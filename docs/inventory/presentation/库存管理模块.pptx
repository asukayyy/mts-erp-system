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1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933" autoAdjust="0"/>
  </p:normalViewPr>
  <p:slideViewPr>
    <p:cSldViewPr snapToGrid="0" showGuides="1">
      <p:cViewPr varScale="1">
        <p:scale>
          <a:sx n="70" d="100"/>
          <a:sy n="70" d="100"/>
        </p:scale>
        <p:origin x="113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commentAuthors" Target="commentAuthor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A01391-DF9A-440A-A852-D7B041A5EACA}" type="doc">
      <dgm:prSet loTypeId="urn:microsoft.com/office/officeart/2005/8/layout/process1" loCatId="process" qsTypeId="urn:microsoft.com/office/officeart/2005/8/quickstyle/simple2" qsCatId="simple" csTypeId="urn:microsoft.com/office/officeart/2005/8/colors/colorful1" csCatId="colorful" phldr="1"/>
      <dgm:spPr/>
    </dgm:pt>
    <dgm:pt modelId="{C114E904-DD87-4F69-9DD3-7516C7737CBB}">
      <dgm:prSet phldrT="[文本]"/>
      <dgm:spPr/>
      <dgm:t>
        <a:bodyPr/>
        <a:lstStyle/>
        <a:p>
          <a:r>
            <a:rPr lang="zh-CN" altLang="en-US" b="1" i="0" baseline="0" dirty="0">
              <a:latin typeface="quote-cjk-patch"/>
            </a:rPr>
            <a:t>销售需求</a:t>
          </a:r>
          <a:r>
            <a:rPr lang="en-US" altLang="zh-CN" b="1" i="0" baseline="0" dirty="0">
              <a:latin typeface="quote-cjk-patch"/>
            </a:rPr>
            <a:t>      </a:t>
          </a:r>
          <a:r>
            <a:rPr lang="zh-CN" altLang="en-US" b="1" i="0" baseline="0" dirty="0">
              <a:latin typeface="quote-cjk-patch"/>
            </a:rPr>
            <a:t>补库需求 </a:t>
          </a:r>
          <a:endParaRPr lang="zh-CN" altLang="en-US" b="1" i="0" baseline="0" dirty="0"/>
        </a:p>
      </dgm:t>
    </dgm:pt>
    <dgm:pt modelId="{6846A19E-317E-4164-B82F-55E321D7B15E}" type="parTrans" cxnId="{E4064440-E73A-4F94-A9BA-72221EE899F6}">
      <dgm:prSet/>
      <dgm:spPr/>
      <dgm:t>
        <a:bodyPr/>
        <a:lstStyle/>
        <a:p>
          <a:endParaRPr lang="zh-CN" altLang="en-US"/>
        </a:p>
      </dgm:t>
    </dgm:pt>
    <dgm:pt modelId="{BE6FA922-4DBA-4E03-A61A-D920F86FBF83}" type="sibTrans" cxnId="{E4064440-E73A-4F94-A9BA-72221EE899F6}">
      <dgm:prSet/>
      <dgm:spPr/>
      <dgm:t>
        <a:bodyPr/>
        <a:lstStyle/>
        <a:p>
          <a:endParaRPr lang="zh-CN" altLang="en-US"/>
        </a:p>
      </dgm:t>
    </dgm:pt>
    <dgm:pt modelId="{449A9CF0-5D72-46BB-B70E-B22B77C13794}">
      <dgm:prSet phldrT="[文本]"/>
      <dgm:spPr/>
      <dgm:t>
        <a:bodyPr/>
        <a:lstStyle/>
        <a:p>
          <a:r>
            <a:rPr lang="zh-CN" altLang="en-US" b="1" i="0" baseline="0" dirty="0">
              <a:latin typeface="quote-cjk-patch"/>
            </a:rPr>
            <a:t>汇总成需求 </a:t>
          </a:r>
          <a:endParaRPr lang="zh-CN" altLang="en-US" b="1" i="0" baseline="0" dirty="0"/>
        </a:p>
      </dgm:t>
    </dgm:pt>
    <dgm:pt modelId="{F1237C39-142B-494F-93C4-A1C31C6AF47B}" type="sibTrans" cxnId="{0B5B6C9F-F5F6-4158-BE3F-87CC20709E12}">
      <dgm:prSet/>
      <dgm:spPr/>
      <dgm:t>
        <a:bodyPr/>
        <a:lstStyle/>
        <a:p>
          <a:endParaRPr lang="zh-CN" altLang="en-US"/>
        </a:p>
      </dgm:t>
    </dgm:pt>
    <dgm:pt modelId="{05C5A66B-BE7E-41C0-9827-FAE3B5220890}" type="parTrans" cxnId="{0B5B6C9F-F5F6-4158-BE3F-87CC20709E12}">
      <dgm:prSet/>
      <dgm:spPr/>
      <dgm:t>
        <a:bodyPr/>
        <a:lstStyle/>
        <a:p>
          <a:endParaRPr lang="zh-CN" altLang="en-US"/>
        </a:p>
      </dgm:t>
    </dgm:pt>
    <dgm:pt modelId="{4C5FFA5F-39EB-47A1-9B8F-048D77627918}">
      <dgm:prSet phldrT="[文本]"/>
      <dgm:spPr/>
      <dgm:t>
        <a:bodyPr/>
        <a:lstStyle/>
        <a:p>
          <a:r>
            <a:rPr lang="zh-CN" altLang="en-US" b="1" i="0" baseline="0">
              <a:latin typeface="quote-cjk-patch"/>
            </a:rPr>
            <a:t>生成 </a:t>
          </a:r>
          <a:r>
            <a:rPr lang="en-US" altLang="zh-CN" b="1" i="0" baseline="0">
              <a:latin typeface="quote-cjk-patch"/>
            </a:rPr>
            <a:t>MPS </a:t>
          </a:r>
          <a:endParaRPr lang="zh-CN" altLang="en-US" b="1" i="0" baseline="0" dirty="0"/>
        </a:p>
      </dgm:t>
    </dgm:pt>
    <dgm:pt modelId="{7E7E0C09-4BA3-4E0B-AC1F-34C99CD33D6B}" type="sibTrans" cxnId="{B8601A21-0ECB-4F5B-8D76-015F66421E1B}">
      <dgm:prSet/>
      <dgm:spPr/>
      <dgm:t>
        <a:bodyPr/>
        <a:lstStyle/>
        <a:p>
          <a:endParaRPr lang="zh-CN" altLang="en-US"/>
        </a:p>
      </dgm:t>
    </dgm:pt>
    <dgm:pt modelId="{40904A5A-8831-491C-AA32-A949E292F414}" type="parTrans" cxnId="{B8601A21-0ECB-4F5B-8D76-015F66421E1B}">
      <dgm:prSet/>
      <dgm:spPr/>
      <dgm:t>
        <a:bodyPr/>
        <a:lstStyle/>
        <a:p>
          <a:endParaRPr lang="zh-CN" altLang="en-US"/>
        </a:p>
      </dgm:t>
    </dgm:pt>
    <dgm:pt modelId="{222F46D2-2446-45C4-9136-8E19DE0B0F4B}">
      <dgm:prSet/>
      <dgm:spPr/>
      <dgm:t>
        <a:bodyPr/>
        <a:lstStyle/>
        <a:p>
          <a:r>
            <a:rPr lang="zh-CN" altLang="en-US" b="1" i="0" baseline="0">
              <a:latin typeface="quote-cjk-patch"/>
            </a:rPr>
            <a:t>触发 </a:t>
          </a:r>
          <a:r>
            <a:rPr lang="en-US" altLang="zh-CN" b="1" i="0" baseline="0">
              <a:latin typeface="quote-cjk-patch"/>
            </a:rPr>
            <a:t>MRP </a:t>
          </a:r>
          <a:endParaRPr lang="zh-CN" altLang="en-US" b="1" i="0" baseline="0" dirty="0"/>
        </a:p>
      </dgm:t>
    </dgm:pt>
    <dgm:pt modelId="{A1005C76-3179-465E-A1B2-8AE38611E8EF}" type="sibTrans" cxnId="{508F9EFF-F9E8-4BCA-9A9C-8800E7863B24}">
      <dgm:prSet/>
      <dgm:spPr/>
      <dgm:t>
        <a:bodyPr/>
        <a:lstStyle/>
        <a:p>
          <a:endParaRPr lang="zh-CN" altLang="en-US"/>
        </a:p>
      </dgm:t>
    </dgm:pt>
    <dgm:pt modelId="{9F64D04D-A389-42F5-9F0C-0E86D09A7397}" type="parTrans" cxnId="{508F9EFF-F9E8-4BCA-9A9C-8800E7863B24}">
      <dgm:prSet/>
      <dgm:spPr/>
      <dgm:t>
        <a:bodyPr/>
        <a:lstStyle/>
        <a:p>
          <a:endParaRPr lang="zh-CN" altLang="en-US"/>
        </a:p>
      </dgm:t>
    </dgm:pt>
    <dgm:pt modelId="{3539735F-047E-4C62-8B10-702F15E4BB30}">
      <dgm:prSet/>
      <dgm:spPr/>
      <dgm:t>
        <a:bodyPr/>
        <a:lstStyle/>
        <a:p>
          <a:r>
            <a:rPr lang="en-US" altLang="zh-CN" b="1" i="0" baseline="0" dirty="0">
              <a:latin typeface="quote-cjk-patch"/>
            </a:rPr>
            <a:t>MRP </a:t>
          </a:r>
          <a:r>
            <a:rPr lang="zh-CN" altLang="en-US" b="1" i="0" baseline="0" dirty="0">
              <a:latin typeface="quote-cjk-patch"/>
            </a:rPr>
            <a:t>分流成“自制”和“采购”</a:t>
          </a:r>
          <a:endParaRPr lang="zh-CN" altLang="en-US" b="1" i="0" baseline="0" dirty="0"/>
        </a:p>
      </dgm:t>
    </dgm:pt>
    <dgm:pt modelId="{8E3A48DB-B866-420D-A45B-4BB4FF8A660A}" type="sibTrans" cxnId="{56A3C79A-DC39-467B-B551-F9A2353E8434}">
      <dgm:prSet/>
      <dgm:spPr/>
      <dgm:t>
        <a:bodyPr/>
        <a:lstStyle/>
        <a:p>
          <a:endParaRPr lang="zh-CN" altLang="en-US"/>
        </a:p>
      </dgm:t>
    </dgm:pt>
    <dgm:pt modelId="{60378648-2171-47D9-95D9-EA4F2CA91FC6}" type="parTrans" cxnId="{56A3C79A-DC39-467B-B551-F9A2353E8434}">
      <dgm:prSet/>
      <dgm:spPr/>
      <dgm:t>
        <a:bodyPr/>
        <a:lstStyle/>
        <a:p>
          <a:endParaRPr lang="zh-CN" altLang="en-US"/>
        </a:p>
      </dgm:t>
    </dgm:pt>
    <dgm:pt modelId="{14066338-999C-48CB-9029-C8246D557731}">
      <dgm:prSet phldrT="[文本]"/>
      <dgm:spPr/>
      <dgm:t>
        <a:bodyPr/>
        <a:lstStyle/>
        <a:p>
          <a:r>
            <a:rPr lang="zh-CN" altLang="en-US" b="1" i="0" baseline="0">
              <a:latin typeface="quote-cjk-patch"/>
            </a:rPr>
            <a:t>自制转生产计划 </a:t>
          </a:r>
          <a:endParaRPr lang="zh-CN" altLang="en-US" b="1" i="0" baseline="0" dirty="0"/>
        </a:p>
      </dgm:t>
    </dgm:pt>
    <dgm:pt modelId="{B9C8AABB-68EE-4586-94BE-0B0D67F51518}" type="sibTrans" cxnId="{4912B37E-599E-420C-92BD-334291D0D6EF}">
      <dgm:prSet/>
      <dgm:spPr/>
      <dgm:t>
        <a:bodyPr/>
        <a:lstStyle/>
        <a:p>
          <a:endParaRPr lang="zh-CN" altLang="en-US"/>
        </a:p>
      </dgm:t>
    </dgm:pt>
    <dgm:pt modelId="{EB3A9C27-0175-41F3-9B11-CF84FEBF3293}" type="parTrans" cxnId="{4912B37E-599E-420C-92BD-334291D0D6EF}">
      <dgm:prSet/>
      <dgm:spPr/>
      <dgm:t>
        <a:bodyPr/>
        <a:lstStyle/>
        <a:p>
          <a:endParaRPr lang="zh-CN" altLang="en-US"/>
        </a:p>
      </dgm:t>
    </dgm:pt>
    <dgm:pt modelId="{81110E72-3563-4936-B841-49040A2C7D8C}">
      <dgm:prSet phldrT="[文本]"/>
      <dgm:spPr/>
      <dgm:t>
        <a:bodyPr/>
        <a:lstStyle/>
        <a:p>
          <a:r>
            <a:rPr lang="zh-CN" altLang="en-US" b="1" i="0" baseline="0" dirty="0">
              <a:latin typeface="quote-cjk-patch"/>
            </a:rPr>
            <a:t>入库     出库</a:t>
          </a:r>
          <a:endParaRPr lang="zh-CN" altLang="en-US" b="1" i="0" baseline="0" dirty="0"/>
        </a:p>
      </dgm:t>
    </dgm:pt>
    <dgm:pt modelId="{740E8CCC-09C8-47CF-A011-9685E9F551E4}" type="sibTrans" cxnId="{17832F24-0608-46D2-B609-716682EEEE78}">
      <dgm:prSet/>
      <dgm:spPr/>
      <dgm:t>
        <a:bodyPr/>
        <a:lstStyle/>
        <a:p>
          <a:endParaRPr lang="zh-CN" altLang="en-US"/>
        </a:p>
      </dgm:t>
    </dgm:pt>
    <dgm:pt modelId="{EF98D21D-F116-4A22-8ACF-4688F5B85EAF}" type="parTrans" cxnId="{17832F24-0608-46D2-B609-716682EEEE78}">
      <dgm:prSet/>
      <dgm:spPr/>
      <dgm:t>
        <a:bodyPr/>
        <a:lstStyle/>
        <a:p>
          <a:endParaRPr lang="zh-CN" altLang="en-US"/>
        </a:p>
      </dgm:t>
    </dgm:pt>
    <dgm:pt modelId="{A88ACC46-D7D6-4EC3-B2BF-E85CBE6B44C9}">
      <dgm:prSet/>
      <dgm:spPr/>
      <dgm:t>
        <a:bodyPr/>
        <a:lstStyle/>
        <a:p>
          <a:r>
            <a:rPr lang="zh-CN" altLang="en-US" b="1" i="0" baseline="0" dirty="0">
              <a:latin typeface="quote-cjk-patch"/>
            </a:rPr>
            <a:t>派工      领料           完工 </a:t>
          </a:r>
          <a:endParaRPr lang="zh-CN" altLang="en-US" b="1" i="0" baseline="0" dirty="0"/>
        </a:p>
      </dgm:t>
    </dgm:pt>
    <dgm:pt modelId="{1EC8AAB2-018E-49ED-9356-824756EDAC06}" type="parTrans" cxnId="{B31504D4-9D50-45F9-ABD8-57CB032C9F73}">
      <dgm:prSet/>
      <dgm:spPr/>
      <dgm:t>
        <a:bodyPr/>
        <a:lstStyle/>
        <a:p>
          <a:endParaRPr lang="zh-CN" altLang="en-US"/>
        </a:p>
      </dgm:t>
    </dgm:pt>
    <dgm:pt modelId="{5909ED4A-6021-4947-AFD2-C52DF0914174}" type="sibTrans" cxnId="{B31504D4-9D50-45F9-ABD8-57CB032C9F73}">
      <dgm:prSet/>
      <dgm:spPr/>
      <dgm:t>
        <a:bodyPr/>
        <a:lstStyle/>
        <a:p>
          <a:endParaRPr lang="zh-CN" altLang="en-US"/>
        </a:p>
      </dgm:t>
    </dgm:pt>
    <dgm:pt modelId="{54DE7BDA-6C8D-49D8-853B-6870E0E8EF1C}" type="pres">
      <dgm:prSet presAssocID="{DFA01391-DF9A-440A-A852-D7B041A5EACA}" presName="Name0" presStyleCnt="0">
        <dgm:presLayoutVars>
          <dgm:dir/>
          <dgm:resizeHandles val="exact"/>
        </dgm:presLayoutVars>
      </dgm:prSet>
      <dgm:spPr/>
    </dgm:pt>
    <dgm:pt modelId="{A9B3F447-345C-424A-AAA9-CC2FC4B54C84}" type="pres">
      <dgm:prSet presAssocID="{C114E904-DD87-4F69-9DD3-7516C7737CBB}" presName="node" presStyleLbl="node1" presStyleIdx="0" presStyleCnt="8">
        <dgm:presLayoutVars>
          <dgm:bulletEnabled val="1"/>
        </dgm:presLayoutVars>
      </dgm:prSet>
      <dgm:spPr/>
    </dgm:pt>
    <dgm:pt modelId="{19AEC403-7A07-4592-B04A-4A3E85FEB679}" type="pres">
      <dgm:prSet presAssocID="{BE6FA922-4DBA-4E03-A61A-D920F86FBF83}" presName="sibTrans" presStyleLbl="sibTrans2D1" presStyleIdx="0" presStyleCnt="7"/>
      <dgm:spPr/>
    </dgm:pt>
    <dgm:pt modelId="{8EC3D744-1902-4ADC-86B2-B51A722BC011}" type="pres">
      <dgm:prSet presAssocID="{BE6FA922-4DBA-4E03-A61A-D920F86FBF83}" presName="connectorText" presStyleLbl="sibTrans2D1" presStyleIdx="0" presStyleCnt="7"/>
      <dgm:spPr/>
    </dgm:pt>
    <dgm:pt modelId="{33E7408F-9BE8-46A9-BBD0-E1521DBA7D09}" type="pres">
      <dgm:prSet presAssocID="{449A9CF0-5D72-46BB-B70E-B22B77C13794}" presName="node" presStyleLbl="node1" presStyleIdx="1" presStyleCnt="8" custScaleX="155781" custScaleY="100000">
        <dgm:presLayoutVars>
          <dgm:bulletEnabled val="1"/>
        </dgm:presLayoutVars>
      </dgm:prSet>
      <dgm:spPr/>
    </dgm:pt>
    <dgm:pt modelId="{B383094B-B7EF-4EAA-A503-F9E9AB8CCB6C}" type="pres">
      <dgm:prSet presAssocID="{F1237C39-142B-494F-93C4-A1C31C6AF47B}" presName="sibTrans" presStyleLbl="sibTrans2D1" presStyleIdx="1" presStyleCnt="7"/>
      <dgm:spPr/>
    </dgm:pt>
    <dgm:pt modelId="{4E5E6499-41E8-4461-BA97-E4E5061D6A36}" type="pres">
      <dgm:prSet presAssocID="{F1237C39-142B-494F-93C4-A1C31C6AF47B}" presName="connectorText" presStyleLbl="sibTrans2D1" presStyleIdx="1" presStyleCnt="7"/>
      <dgm:spPr/>
    </dgm:pt>
    <dgm:pt modelId="{0B90835C-D86F-4E00-80CA-BCB53BCE759A}" type="pres">
      <dgm:prSet presAssocID="{4C5FFA5F-39EB-47A1-9B8F-048D77627918}" presName="node" presStyleLbl="node1" presStyleIdx="2" presStyleCnt="8">
        <dgm:presLayoutVars>
          <dgm:bulletEnabled val="1"/>
        </dgm:presLayoutVars>
      </dgm:prSet>
      <dgm:spPr/>
    </dgm:pt>
    <dgm:pt modelId="{C1D92DB5-939B-4209-A560-7A6A58FBF400}" type="pres">
      <dgm:prSet presAssocID="{7E7E0C09-4BA3-4E0B-AC1F-34C99CD33D6B}" presName="sibTrans" presStyleLbl="sibTrans2D1" presStyleIdx="2" presStyleCnt="7"/>
      <dgm:spPr/>
    </dgm:pt>
    <dgm:pt modelId="{53AF56A9-8B38-461A-89A1-9F7BF4CEA5A5}" type="pres">
      <dgm:prSet presAssocID="{7E7E0C09-4BA3-4E0B-AC1F-34C99CD33D6B}" presName="connectorText" presStyleLbl="sibTrans2D1" presStyleIdx="2" presStyleCnt="7"/>
      <dgm:spPr/>
    </dgm:pt>
    <dgm:pt modelId="{28B81258-7D1C-4C24-ADEA-070BD3B4BF5A}" type="pres">
      <dgm:prSet presAssocID="{222F46D2-2446-45C4-9136-8E19DE0B0F4B}" presName="node" presStyleLbl="node1" presStyleIdx="3" presStyleCnt="8">
        <dgm:presLayoutVars>
          <dgm:bulletEnabled val="1"/>
        </dgm:presLayoutVars>
      </dgm:prSet>
      <dgm:spPr/>
    </dgm:pt>
    <dgm:pt modelId="{59218790-C695-4F98-A6C4-D4A1023712B8}" type="pres">
      <dgm:prSet presAssocID="{A1005C76-3179-465E-A1B2-8AE38611E8EF}" presName="sibTrans" presStyleLbl="sibTrans2D1" presStyleIdx="3" presStyleCnt="7"/>
      <dgm:spPr/>
    </dgm:pt>
    <dgm:pt modelId="{2A92FE6F-DE99-4009-B81F-85EE37983DB2}" type="pres">
      <dgm:prSet presAssocID="{A1005C76-3179-465E-A1B2-8AE38611E8EF}" presName="connectorText" presStyleLbl="sibTrans2D1" presStyleIdx="3" presStyleCnt="7"/>
      <dgm:spPr/>
    </dgm:pt>
    <dgm:pt modelId="{E6099C9C-8F70-4203-BA49-7CF0D559C2C5}" type="pres">
      <dgm:prSet presAssocID="{3539735F-047E-4C62-8B10-702F15E4BB30}" presName="node" presStyleLbl="node1" presStyleIdx="4" presStyleCnt="8" custScaleX="99751">
        <dgm:presLayoutVars>
          <dgm:bulletEnabled val="1"/>
        </dgm:presLayoutVars>
      </dgm:prSet>
      <dgm:spPr/>
    </dgm:pt>
    <dgm:pt modelId="{C766D321-06CD-4A17-BD26-4C336F5E2A90}" type="pres">
      <dgm:prSet presAssocID="{8E3A48DB-B866-420D-A45B-4BB4FF8A660A}" presName="sibTrans" presStyleLbl="sibTrans2D1" presStyleIdx="4" presStyleCnt="7"/>
      <dgm:spPr/>
    </dgm:pt>
    <dgm:pt modelId="{6D13AA60-BC3C-4809-B9DA-F4614E05E7F7}" type="pres">
      <dgm:prSet presAssocID="{8E3A48DB-B866-420D-A45B-4BB4FF8A660A}" presName="connectorText" presStyleLbl="sibTrans2D1" presStyleIdx="4" presStyleCnt="7"/>
      <dgm:spPr/>
    </dgm:pt>
    <dgm:pt modelId="{85FC1A30-0CA9-408F-9465-77A1C89357E6}" type="pres">
      <dgm:prSet presAssocID="{14066338-999C-48CB-9029-C8246D557731}" presName="node" presStyleLbl="node1" presStyleIdx="5" presStyleCnt="8">
        <dgm:presLayoutVars>
          <dgm:bulletEnabled val="1"/>
        </dgm:presLayoutVars>
      </dgm:prSet>
      <dgm:spPr/>
    </dgm:pt>
    <dgm:pt modelId="{C770CB51-5549-42DC-B2D2-8A52DB4E64AC}" type="pres">
      <dgm:prSet presAssocID="{B9C8AABB-68EE-4586-94BE-0B0D67F51518}" presName="sibTrans" presStyleLbl="sibTrans2D1" presStyleIdx="5" presStyleCnt="7"/>
      <dgm:spPr/>
    </dgm:pt>
    <dgm:pt modelId="{CE4F89A5-4331-4684-90CE-48A4EBB8A92B}" type="pres">
      <dgm:prSet presAssocID="{B9C8AABB-68EE-4586-94BE-0B0D67F51518}" presName="connectorText" presStyleLbl="sibTrans2D1" presStyleIdx="5" presStyleCnt="7"/>
      <dgm:spPr/>
    </dgm:pt>
    <dgm:pt modelId="{8C763169-EF12-4F8F-A9F9-42578FE08916}" type="pres">
      <dgm:prSet presAssocID="{A88ACC46-D7D6-4EC3-B2BF-E85CBE6B44C9}" presName="node" presStyleLbl="node1" presStyleIdx="6" presStyleCnt="8" custScaleX="91920">
        <dgm:presLayoutVars>
          <dgm:bulletEnabled val="1"/>
        </dgm:presLayoutVars>
      </dgm:prSet>
      <dgm:spPr/>
    </dgm:pt>
    <dgm:pt modelId="{0EF6D0C1-2A1D-44DB-AC63-0A76B5AE23E7}" type="pres">
      <dgm:prSet presAssocID="{5909ED4A-6021-4947-AFD2-C52DF0914174}" presName="sibTrans" presStyleLbl="sibTrans2D1" presStyleIdx="6" presStyleCnt="7"/>
      <dgm:spPr/>
    </dgm:pt>
    <dgm:pt modelId="{F805C0C9-F28F-4E86-BED9-6F31D963F2B7}" type="pres">
      <dgm:prSet presAssocID="{5909ED4A-6021-4947-AFD2-C52DF0914174}" presName="connectorText" presStyleLbl="sibTrans2D1" presStyleIdx="6" presStyleCnt="7"/>
      <dgm:spPr/>
    </dgm:pt>
    <dgm:pt modelId="{3D4D1127-C728-40CF-9EBA-C28C73F7F315}" type="pres">
      <dgm:prSet presAssocID="{81110E72-3563-4936-B841-49040A2C7D8C}" presName="node" presStyleLbl="node1" presStyleIdx="7" presStyleCnt="8" custScaleX="80222">
        <dgm:presLayoutVars>
          <dgm:bulletEnabled val="1"/>
        </dgm:presLayoutVars>
      </dgm:prSet>
      <dgm:spPr/>
    </dgm:pt>
  </dgm:ptLst>
  <dgm:cxnLst>
    <dgm:cxn modelId="{22804611-B1C3-4A57-B0C6-116B2A84B994}" type="presOf" srcId="{F1237C39-142B-494F-93C4-A1C31C6AF47B}" destId="{B383094B-B7EF-4EAA-A503-F9E9AB8CCB6C}" srcOrd="0" destOrd="0" presId="urn:microsoft.com/office/officeart/2005/8/layout/process1"/>
    <dgm:cxn modelId="{13CBEF12-57E8-458F-8B5B-B97197959B7F}" type="presOf" srcId="{BE6FA922-4DBA-4E03-A61A-D920F86FBF83}" destId="{8EC3D744-1902-4ADC-86B2-B51A722BC011}" srcOrd="1" destOrd="0" presId="urn:microsoft.com/office/officeart/2005/8/layout/process1"/>
    <dgm:cxn modelId="{12C7161A-019D-4CC9-8489-7235222516DD}" type="presOf" srcId="{B9C8AABB-68EE-4586-94BE-0B0D67F51518}" destId="{C770CB51-5549-42DC-B2D2-8A52DB4E64AC}" srcOrd="0" destOrd="0" presId="urn:microsoft.com/office/officeart/2005/8/layout/process1"/>
    <dgm:cxn modelId="{4D727E20-1C9C-414F-B42D-3B0F86033A00}" type="presOf" srcId="{7E7E0C09-4BA3-4E0B-AC1F-34C99CD33D6B}" destId="{C1D92DB5-939B-4209-A560-7A6A58FBF400}" srcOrd="0" destOrd="0" presId="urn:microsoft.com/office/officeart/2005/8/layout/process1"/>
    <dgm:cxn modelId="{B8601A21-0ECB-4F5B-8D76-015F66421E1B}" srcId="{DFA01391-DF9A-440A-A852-D7B041A5EACA}" destId="{4C5FFA5F-39EB-47A1-9B8F-048D77627918}" srcOrd="2" destOrd="0" parTransId="{40904A5A-8831-491C-AA32-A949E292F414}" sibTransId="{7E7E0C09-4BA3-4E0B-AC1F-34C99CD33D6B}"/>
    <dgm:cxn modelId="{17832F24-0608-46D2-B609-716682EEEE78}" srcId="{DFA01391-DF9A-440A-A852-D7B041A5EACA}" destId="{81110E72-3563-4936-B841-49040A2C7D8C}" srcOrd="7" destOrd="0" parTransId="{EF98D21D-F116-4A22-8ACF-4688F5B85EAF}" sibTransId="{740E8CCC-09C8-47CF-A011-9685E9F551E4}"/>
    <dgm:cxn modelId="{343D7B2E-EA0B-45A5-AD5B-5CABFCDEDE35}" type="presOf" srcId="{B9C8AABB-68EE-4586-94BE-0B0D67F51518}" destId="{CE4F89A5-4331-4684-90CE-48A4EBB8A92B}" srcOrd="1" destOrd="0" presId="urn:microsoft.com/office/officeart/2005/8/layout/process1"/>
    <dgm:cxn modelId="{3167CA33-53C1-4E5B-85DE-852CF917EBA4}" type="presOf" srcId="{81110E72-3563-4936-B841-49040A2C7D8C}" destId="{3D4D1127-C728-40CF-9EBA-C28C73F7F315}" srcOrd="0" destOrd="0" presId="urn:microsoft.com/office/officeart/2005/8/layout/process1"/>
    <dgm:cxn modelId="{E4064440-E73A-4F94-A9BA-72221EE899F6}" srcId="{DFA01391-DF9A-440A-A852-D7B041A5EACA}" destId="{C114E904-DD87-4F69-9DD3-7516C7737CBB}" srcOrd="0" destOrd="0" parTransId="{6846A19E-317E-4164-B82F-55E321D7B15E}" sibTransId="{BE6FA922-4DBA-4E03-A61A-D920F86FBF83}"/>
    <dgm:cxn modelId="{3971AB69-2A23-49A2-B08B-F0FEDAA4DA99}" type="presOf" srcId="{BE6FA922-4DBA-4E03-A61A-D920F86FBF83}" destId="{19AEC403-7A07-4592-B04A-4A3E85FEB679}" srcOrd="0" destOrd="0" presId="urn:microsoft.com/office/officeart/2005/8/layout/process1"/>
    <dgm:cxn modelId="{BDD93451-147B-47F4-B501-564858D2029A}" type="presOf" srcId="{3539735F-047E-4C62-8B10-702F15E4BB30}" destId="{E6099C9C-8F70-4203-BA49-7CF0D559C2C5}" srcOrd="0" destOrd="0" presId="urn:microsoft.com/office/officeart/2005/8/layout/process1"/>
    <dgm:cxn modelId="{2744A251-A642-4007-BF5D-CFB7E876BC9A}" type="presOf" srcId="{C114E904-DD87-4F69-9DD3-7516C7737CBB}" destId="{A9B3F447-345C-424A-AAA9-CC2FC4B54C84}" srcOrd="0" destOrd="0" presId="urn:microsoft.com/office/officeart/2005/8/layout/process1"/>
    <dgm:cxn modelId="{9125BB76-C32E-4543-A3C1-DF0DEFE0C7E4}" type="presOf" srcId="{A1005C76-3179-465E-A1B2-8AE38611E8EF}" destId="{59218790-C695-4F98-A6C4-D4A1023712B8}" srcOrd="0" destOrd="0" presId="urn:microsoft.com/office/officeart/2005/8/layout/process1"/>
    <dgm:cxn modelId="{4912B37E-599E-420C-92BD-334291D0D6EF}" srcId="{DFA01391-DF9A-440A-A852-D7B041A5EACA}" destId="{14066338-999C-48CB-9029-C8246D557731}" srcOrd="5" destOrd="0" parTransId="{EB3A9C27-0175-41F3-9B11-CF84FEBF3293}" sibTransId="{B9C8AABB-68EE-4586-94BE-0B0D67F51518}"/>
    <dgm:cxn modelId="{A7B3248A-DA89-479F-B499-7DEE4C8B7622}" type="presOf" srcId="{DFA01391-DF9A-440A-A852-D7B041A5EACA}" destId="{54DE7BDA-6C8D-49D8-853B-6870E0E8EF1C}" srcOrd="0" destOrd="0" presId="urn:microsoft.com/office/officeart/2005/8/layout/process1"/>
    <dgm:cxn modelId="{99209396-09F0-4DB5-9508-3EDA7B666CD8}" type="presOf" srcId="{8E3A48DB-B866-420D-A45B-4BB4FF8A660A}" destId="{C766D321-06CD-4A17-BD26-4C336F5E2A90}" srcOrd="0" destOrd="0" presId="urn:microsoft.com/office/officeart/2005/8/layout/process1"/>
    <dgm:cxn modelId="{5E58239A-A3EF-4042-B765-AED765697230}" type="presOf" srcId="{5909ED4A-6021-4947-AFD2-C52DF0914174}" destId="{0EF6D0C1-2A1D-44DB-AC63-0A76B5AE23E7}" srcOrd="0" destOrd="0" presId="urn:microsoft.com/office/officeart/2005/8/layout/process1"/>
    <dgm:cxn modelId="{56A3C79A-DC39-467B-B551-F9A2353E8434}" srcId="{DFA01391-DF9A-440A-A852-D7B041A5EACA}" destId="{3539735F-047E-4C62-8B10-702F15E4BB30}" srcOrd="4" destOrd="0" parTransId="{60378648-2171-47D9-95D9-EA4F2CA91FC6}" sibTransId="{8E3A48DB-B866-420D-A45B-4BB4FF8A660A}"/>
    <dgm:cxn modelId="{0B5B6C9F-F5F6-4158-BE3F-87CC20709E12}" srcId="{DFA01391-DF9A-440A-A852-D7B041A5EACA}" destId="{449A9CF0-5D72-46BB-B70E-B22B77C13794}" srcOrd="1" destOrd="0" parTransId="{05C5A66B-BE7E-41C0-9827-FAE3B5220890}" sibTransId="{F1237C39-142B-494F-93C4-A1C31C6AF47B}"/>
    <dgm:cxn modelId="{217B01AE-290B-493D-ABB0-079F59617420}" type="presOf" srcId="{222F46D2-2446-45C4-9136-8E19DE0B0F4B}" destId="{28B81258-7D1C-4C24-ADEA-070BD3B4BF5A}" srcOrd="0" destOrd="0" presId="urn:microsoft.com/office/officeart/2005/8/layout/process1"/>
    <dgm:cxn modelId="{518161AF-3C0B-42DC-BF02-EC523A472B3D}" type="presOf" srcId="{449A9CF0-5D72-46BB-B70E-B22B77C13794}" destId="{33E7408F-9BE8-46A9-BBD0-E1521DBA7D09}" srcOrd="0" destOrd="0" presId="urn:microsoft.com/office/officeart/2005/8/layout/process1"/>
    <dgm:cxn modelId="{36C30EB6-8BF5-4B6C-BFD5-7171F3C7D991}" type="presOf" srcId="{5909ED4A-6021-4947-AFD2-C52DF0914174}" destId="{F805C0C9-F28F-4E86-BED9-6F31D963F2B7}" srcOrd="1" destOrd="0" presId="urn:microsoft.com/office/officeart/2005/8/layout/process1"/>
    <dgm:cxn modelId="{A5D4CFB7-8DC5-4648-9C0C-FB8F0CDE5EF2}" type="presOf" srcId="{14066338-999C-48CB-9029-C8246D557731}" destId="{85FC1A30-0CA9-408F-9465-77A1C89357E6}" srcOrd="0" destOrd="0" presId="urn:microsoft.com/office/officeart/2005/8/layout/process1"/>
    <dgm:cxn modelId="{40D0A3CE-7E50-4A7D-9373-BF4F4000D1E3}" type="presOf" srcId="{A88ACC46-D7D6-4EC3-B2BF-E85CBE6B44C9}" destId="{8C763169-EF12-4F8F-A9F9-42578FE08916}" srcOrd="0" destOrd="0" presId="urn:microsoft.com/office/officeart/2005/8/layout/process1"/>
    <dgm:cxn modelId="{CEFE62D0-B7F1-4FCB-BF81-10C9B4EA9F70}" type="presOf" srcId="{8E3A48DB-B866-420D-A45B-4BB4FF8A660A}" destId="{6D13AA60-BC3C-4809-B9DA-F4614E05E7F7}" srcOrd="1" destOrd="0" presId="urn:microsoft.com/office/officeart/2005/8/layout/process1"/>
    <dgm:cxn modelId="{B31504D4-9D50-45F9-ABD8-57CB032C9F73}" srcId="{DFA01391-DF9A-440A-A852-D7B041A5EACA}" destId="{A88ACC46-D7D6-4EC3-B2BF-E85CBE6B44C9}" srcOrd="6" destOrd="0" parTransId="{1EC8AAB2-018E-49ED-9356-824756EDAC06}" sibTransId="{5909ED4A-6021-4947-AFD2-C52DF0914174}"/>
    <dgm:cxn modelId="{0D2384D7-22AC-43B4-8FED-C8A92A1BDF3B}" type="presOf" srcId="{A1005C76-3179-465E-A1B2-8AE38611E8EF}" destId="{2A92FE6F-DE99-4009-B81F-85EE37983DB2}" srcOrd="1" destOrd="0" presId="urn:microsoft.com/office/officeart/2005/8/layout/process1"/>
    <dgm:cxn modelId="{0F56D9DD-CB79-42CD-B12C-71A20FD4E124}" type="presOf" srcId="{4C5FFA5F-39EB-47A1-9B8F-048D77627918}" destId="{0B90835C-D86F-4E00-80CA-BCB53BCE759A}" srcOrd="0" destOrd="0" presId="urn:microsoft.com/office/officeart/2005/8/layout/process1"/>
    <dgm:cxn modelId="{395F77EF-0CE9-46B2-8BF7-4EDDD5751DA9}" type="presOf" srcId="{F1237C39-142B-494F-93C4-A1C31C6AF47B}" destId="{4E5E6499-41E8-4461-BA97-E4E5061D6A36}" srcOrd="1" destOrd="0" presId="urn:microsoft.com/office/officeart/2005/8/layout/process1"/>
    <dgm:cxn modelId="{4EC541F7-B731-44B5-8020-76E5ADA5F220}" type="presOf" srcId="{7E7E0C09-4BA3-4E0B-AC1F-34C99CD33D6B}" destId="{53AF56A9-8B38-461A-89A1-9F7BF4CEA5A5}" srcOrd="1" destOrd="0" presId="urn:microsoft.com/office/officeart/2005/8/layout/process1"/>
    <dgm:cxn modelId="{508F9EFF-F9E8-4BCA-9A9C-8800E7863B24}" srcId="{DFA01391-DF9A-440A-A852-D7B041A5EACA}" destId="{222F46D2-2446-45C4-9136-8E19DE0B0F4B}" srcOrd="3" destOrd="0" parTransId="{9F64D04D-A389-42F5-9F0C-0E86D09A7397}" sibTransId="{A1005C76-3179-465E-A1B2-8AE38611E8EF}"/>
    <dgm:cxn modelId="{739B308E-3CE5-4A42-B808-AA2D86DD5289}" type="presParOf" srcId="{54DE7BDA-6C8D-49D8-853B-6870E0E8EF1C}" destId="{A9B3F447-345C-424A-AAA9-CC2FC4B54C84}" srcOrd="0" destOrd="0" presId="urn:microsoft.com/office/officeart/2005/8/layout/process1"/>
    <dgm:cxn modelId="{E6C740F3-20BF-41A8-B91A-CD4EBC886A40}" type="presParOf" srcId="{54DE7BDA-6C8D-49D8-853B-6870E0E8EF1C}" destId="{19AEC403-7A07-4592-B04A-4A3E85FEB679}" srcOrd="1" destOrd="0" presId="urn:microsoft.com/office/officeart/2005/8/layout/process1"/>
    <dgm:cxn modelId="{9290CFD4-F490-4B21-B7A6-FF4472FB8411}" type="presParOf" srcId="{19AEC403-7A07-4592-B04A-4A3E85FEB679}" destId="{8EC3D744-1902-4ADC-86B2-B51A722BC011}" srcOrd="0" destOrd="0" presId="urn:microsoft.com/office/officeart/2005/8/layout/process1"/>
    <dgm:cxn modelId="{2F26AC6B-96B8-4BE2-B940-F95EDA515812}" type="presParOf" srcId="{54DE7BDA-6C8D-49D8-853B-6870E0E8EF1C}" destId="{33E7408F-9BE8-46A9-BBD0-E1521DBA7D09}" srcOrd="2" destOrd="0" presId="urn:microsoft.com/office/officeart/2005/8/layout/process1"/>
    <dgm:cxn modelId="{38F82394-C203-4D89-A7CC-04527839BA67}" type="presParOf" srcId="{54DE7BDA-6C8D-49D8-853B-6870E0E8EF1C}" destId="{B383094B-B7EF-4EAA-A503-F9E9AB8CCB6C}" srcOrd="3" destOrd="0" presId="urn:microsoft.com/office/officeart/2005/8/layout/process1"/>
    <dgm:cxn modelId="{D30CBB8D-AEE7-4153-9E1B-BD9116E6ABD8}" type="presParOf" srcId="{B383094B-B7EF-4EAA-A503-F9E9AB8CCB6C}" destId="{4E5E6499-41E8-4461-BA97-E4E5061D6A36}" srcOrd="0" destOrd="0" presId="urn:microsoft.com/office/officeart/2005/8/layout/process1"/>
    <dgm:cxn modelId="{765A0EE8-A196-46A7-9811-0CEBDCC658FA}" type="presParOf" srcId="{54DE7BDA-6C8D-49D8-853B-6870E0E8EF1C}" destId="{0B90835C-D86F-4E00-80CA-BCB53BCE759A}" srcOrd="4" destOrd="0" presId="urn:microsoft.com/office/officeart/2005/8/layout/process1"/>
    <dgm:cxn modelId="{70B81F14-4004-4DF4-BC59-A6DC3CDF7031}" type="presParOf" srcId="{54DE7BDA-6C8D-49D8-853B-6870E0E8EF1C}" destId="{C1D92DB5-939B-4209-A560-7A6A58FBF400}" srcOrd="5" destOrd="0" presId="urn:microsoft.com/office/officeart/2005/8/layout/process1"/>
    <dgm:cxn modelId="{0E8A0AE3-6827-4F00-8321-8C46CB75D62B}" type="presParOf" srcId="{C1D92DB5-939B-4209-A560-7A6A58FBF400}" destId="{53AF56A9-8B38-461A-89A1-9F7BF4CEA5A5}" srcOrd="0" destOrd="0" presId="urn:microsoft.com/office/officeart/2005/8/layout/process1"/>
    <dgm:cxn modelId="{63D873DD-E293-46AB-B196-003BE48CE791}" type="presParOf" srcId="{54DE7BDA-6C8D-49D8-853B-6870E0E8EF1C}" destId="{28B81258-7D1C-4C24-ADEA-070BD3B4BF5A}" srcOrd="6" destOrd="0" presId="urn:microsoft.com/office/officeart/2005/8/layout/process1"/>
    <dgm:cxn modelId="{D9D05E87-BAAB-49D2-98F0-85EB1106AE45}" type="presParOf" srcId="{54DE7BDA-6C8D-49D8-853B-6870E0E8EF1C}" destId="{59218790-C695-4F98-A6C4-D4A1023712B8}" srcOrd="7" destOrd="0" presId="urn:microsoft.com/office/officeart/2005/8/layout/process1"/>
    <dgm:cxn modelId="{CFDCA896-4DEE-404A-837D-8FC1FDD1268D}" type="presParOf" srcId="{59218790-C695-4F98-A6C4-D4A1023712B8}" destId="{2A92FE6F-DE99-4009-B81F-85EE37983DB2}" srcOrd="0" destOrd="0" presId="urn:microsoft.com/office/officeart/2005/8/layout/process1"/>
    <dgm:cxn modelId="{FFCC1FA3-3389-4A43-B649-4A748146B35F}" type="presParOf" srcId="{54DE7BDA-6C8D-49D8-853B-6870E0E8EF1C}" destId="{E6099C9C-8F70-4203-BA49-7CF0D559C2C5}" srcOrd="8" destOrd="0" presId="urn:microsoft.com/office/officeart/2005/8/layout/process1"/>
    <dgm:cxn modelId="{38F30C46-5747-4CF9-B0D2-8D85CEC1CDE0}" type="presParOf" srcId="{54DE7BDA-6C8D-49D8-853B-6870E0E8EF1C}" destId="{C766D321-06CD-4A17-BD26-4C336F5E2A90}" srcOrd="9" destOrd="0" presId="urn:microsoft.com/office/officeart/2005/8/layout/process1"/>
    <dgm:cxn modelId="{273EB287-6E5C-4450-B62B-E3740A20E1EF}" type="presParOf" srcId="{C766D321-06CD-4A17-BD26-4C336F5E2A90}" destId="{6D13AA60-BC3C-4809-B9DA-F4614E05E7F7}" srcOrd="0" destOrd="0" presId="urn:microsoft.com/office/officeart/2005/8/layout/process1"/>
    <dgm:cxn modelId="{0E7C55BD-F535-4C1B-AC47-6984B1BF6BE0}" type="presParOf" srcId="{54DE7BDA-6C8D-49D8-853B-6870E0E8EF1C}" destId="{85FC1A30-0CA9-408F-9465-77A1C89357E6}" srcOrd="10" destOrd="0" presId="urn:microsoft.com/office/officeart/2005/8/layout/process1"/>
    <dgm:cxn modelId="{9A1566F2-E12F-4AC6-AA0A-9E4C00EDB04E}" type="presParOf" srcId="{54DE7BDA-6C8D-49D8-853B-6870E0E8EF1C}" destId="{C770CB51-5549-42DC-B2D2-8A52DB4E64AC}" srcOrd="11" destOrd="0" presId="urn:microsoft.com/office/officeart/2005/8/layout/process1"/>
    <dgm:cxn modelId="{B22FB761-D7F6-4259-B173-F65752714DC0}" type="presParOf" srcId="{C770CB51-5549-42DC-B2D2-8A52DB4E64AC}" destId="{CE4F89A5-4331-4684-90CE-48A4EBB8A92B}" srcOrd="0" destOrd="0" presId="urn:microsoft.com/office/officeart/2005/8/layout/process1"/>
    <dgm:cxn modelId="{1CA31632-A679-43FE-89ED-433F9ABACB30}" type="presParOf" srcId="{54DE7BDA-6C8D-49D8-853B-6870E0E8EF1C}" destId="{8C763169-EF12-4F8F-A9F9-42578FE08916}" srcOrd="12" destOrd="0" presId="urn:microsoft.com/office/officeart/2005/8/layout/process1"/>
    <dgm:cxn modelId="{07DFAEE4-A44E-45EB-9048-5FA1ED7084CC}" type="presParOf" srcId="{54DE7BDA-6C8D-49D8-853B-6870E0E8EF1C}" destId="{0EF6D0C1-2A1D-44DB-AC63-0A76B5AE23E7}" srcOrd="13" destOrd="0" presId="urn:microsoft.com/office/officeart/2005/8/layout/process1"/>
    <dgm:cxn modelId="{7B0FA6DC-74A2-41EB-9A85-E59F4F9EC112}" type="presParOf" srcId="{0EF6D0C1-2A1D-44DB-AC63-0A76B5AE23E7}" destId="{F805C0C9-F28F-4E86-BED9-6F31D963F2B7}" srcOrd="0" destOrd="0" presId="urn:microsoft.com/office/officeart/2005/8/layout/process1"/>
    <dgm:cxn modelId="{D1B5AFEC-0333-43AC-9FF2-798AB4F734E9}" type="presParOf" srcId="{54DE7BDA-6C8D-49D8-853B-6870E0E8EF1C}" destId="{3D4D1127-C728-40CF-9EBA-C28C73F7F315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B3F447-345C-424A-AAA9-CC2FC4B54C84}">
      <dsp:nvSpPr>
        <dsp:cNvPr id="0" name=""/>
        <dsp:cNvSpPr/>
      </dsp:nvSpPr>
      <dsp:spPr>
        <a:xfrm>
          <a:off x="4369" y="142147"/>
          <a:ext cx="1026792" cy="8687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b="1" i="0" kern="1200" baseline="0" dirty="0">
              <a:latin typeface="quote-cjk-patch"/>
            </a:rPr>
            <a:t>销售需求</a:t>
          </a:r>
          <a:r>
            <a:rPr lang="en-US" altLang="zh-CN" sz="1500" b="1" i="0" kern="1200" baseline="0" dirty="0">
              <a:latin typeface="quote-cjk-patch"/>
            </a:rPr>
            <a:t>      </a:t>
          </a:r>
          <a:r>
            <a:rPr lang="zh-CN" altLang="en-US" sz="1500" b="1" i="0" kern="1200" baseline="0" dirty="0">
              <a:latin typeface="quote-cjk-patch"/>
            </a:rPr>
            <a:t>补库需求 </a:t>
          </a:r>
          <a:endParaRPr lang="zh-CN" altLang="en-US" sz="1500" b="1" i="0" kern="1200" baseline="0" dirty="0"/>
        </a:p>
      </dsp:txBody>
      <dsp:txXfrm>
        <a:off x="29814" y="167592"/>
        <a:ext cx="975902" cy="817872"/>
      </dsp:txXfrm>
    </dsp:sp>
    <dsp:sp modelId="{19AEC403-7A07-4592-B04A-4A3E85FEB679}">
      <dsp:nvSpPr>
        <dsp:cNvPr id="0" name=""/>
        <dsp:cNvSpPr/>
      </dsp:nvSpPr>
      <dsp:spPr>
        <a:xfrm>
          <a:off x="1133840" y="449206"/>
          <a:ext cx="217679" cy="2546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1133840" y="500135"/>
        <a:ext cx="152375" cy="152786"/>
      </dsp:txXfrm>
    </dsp:sp>
    <dsp:sp modelId="{33E7408F-9BE8-46A9-BBD0-E1521DBA7D09}">
      <dsp:nvSpPr>
        <dsp:cNvPr id="0" name=""/>
        <dsp:cNvSpPr/>
      </dsp:nvSpPr>
      <dsp:spPr>
        <a:xfrm>
          <a:off x="1441878" y="142147"/>
          <a:ext cx="1599547" cy="8687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b="1" i="0" kern="1200" baseline="0" dirty="0">
              <a:latin typeface="quote-cjk-patch"/>
            </a:rPr>
            <a:t>汇总成需求 </a:t>
          </a:r>
          <a:endParaRPr lang="zh-CN" altLang="en-US" sz="1500" b="1" i="0" kern="1200" baseline="0" dirty="0"/>
        </a:p>
      </dsp:txBody>
      <dsp:txXfrm>
        <a:off x="1467323" y="167592"/>
        <a:ext cx="1548657" cy="817872"/>
      </dsp:txXfrm>
    </dsp:sp>
    <dsp:sp modelId="{B383094B-B7EF-4EAA-A503-F9E9AB8CCB6C}">
      <dsp:nvSpPr>
        <dsp:cNvPr id="0" name=""/>
        <dsp:cNvSpPr/>
      </dsp:nvSpPr>
      <dsp:spPr>
        <a:xfrm>
          <a:off x="3144105" y="449206"/>
          <a:ext cx="217679" cy="2546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3144105" y="500135"/>
        <a:ext cx="152375" cy="152786"/>
      </dsp:txXfrm>
    </dsp:sp>
    <dsp:sp modelId="{0B90835C-D86F-4E00-80CA-BCB53BCE759A}">
      <dsp:nvSpPr>
        <dsp:cNvPr id="0" name=""/>
        <dsp:cNvSpPr/>
      </dsp:nvSpPr>
      <dsp:spPr>
        <a:xfrm>
          <a:off x="3452143" y="142147"/>
          <a:ext cx="1026792" cy="8687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b="1" i="0" kern="1200" baseline="0">
              <a:latin typeface="quote-cjk-patch"/>
            </a:rPr>
            <a:t>生成 </a:t>
          </a:r>
          <a:r>
            <a:rPr lang="en-US" altLang="zh-CN" sz="1500" b="1" i="0" kern="1200" baseline="0">
              <a:latin typeface="quote-cjk-patch"/>
            </a:rPr>
            <a:t>MPS </a:t>
          </a:r>
          <a:endParaRPr lang="zh-CN" altLang="en-US" sz="1500" b="1" i="0" kern="1200" baseline="0" dirty="0"/>
        </a:p>
      </dsp:txBody>
      <dsp:txXfrm>
        <a:off x="3477588" y="167592"/>
        <a:ext cx="975902" cy="817872"/>
      </dsp:txXfrm>
    </dsp:sp>
    <dsp:sp modelId="{C1D92DB5-939B-4209-A560-7A6A58FBF400}">
      <dsp:nvSpPr>
        <dsp:cNvPr id="0" name=""/>
        <dsp:cNvSpPr/>
      </dsp:nvSpPr>
      <dsp:spPr>
        <a:xfrm>
          <a:off x="4581614" y="449206"/>
          <a:ext cx="217679" cy="2546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4581614" y="500135"/>
        <a:ext cx="152375" cy="152786"/>
      </dsp:txXfrm>
    </dsp:sp>
    <dsp:sp modelId="{28B81258-7D1C-4C24-ADEA-070BD3B4BF5A}">
      <dsp:nvSpPr>
        <dsp:cNvPr id="0" name=""/>
        <dsp:cNvSpPr/>
      </dsp:nvSpPr>
      <dsp:spPr>
        <a:xfrm>
          <a:off x="4889652" y="142147"/>
          <a:ext cx="1026792" cy="8687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b="1" i="0" kern="1200" baseline="0">
              <a:latin typeface="quote-cjk-patch"/>
            </a:rPr>
            <a:t>触发 </a:t>
          </a:r>
          <a:r>
            <a:rPr lang="en-US" altLang="zh-CN" sz="1500" b="1" i="0" kern="1200" baseline="0">
              <a:latin typeface="quote-cjk-patch"/>
            </a:rPr>
            <a:t>MRP </a:t>
          </a:r>
          <a:endParaRPr lang="zh-CN" altLang="en-US" sz="1500" b="1" i="0" kern="1200" baseline="0" dirty="0"/>
        </a:p>
      </dsp:txBody>
      <dsp:txXfrm>
        <a:off x="4915097" y="167592"/>
        <a:ext cx="975902" cy="817872"/>
      </dsp:txXfrm>
    </dsp:sp>
    <dsp:sp modelId="{59218790-C695-4F98-A6C4-D4A1023712B8}">
      <dsp:nvSpPr>
        <dsp:cNvPr id="0" name=""/>
        <dsp:cNvSpPr/>
      </dsp:nvSpPr>
      <dsp:spPr>
        <a:xfrm>
          <a:off x="6019124" y="449206"/>
          <a:ext cx="217679" cy="2546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6019124" y="500135"/>
        <a:ext cx="152375" cy="152786"/>
      </dsp:txXfrm>
    </dsp:sp>
    <dsp:sp modelId="{E6099C9C-8F70-4203-BA49-7CF0D559C2C5}">
      <dsp:nvSpPr>
        <dsp:cNvPr id="0" name=""/>
        <dsp:cNvSpPr/>
      </dsp:nvSpPr>
      <dsp:spPr>
        <a:xfrm>
          <a:off x="6327161" y="142147"/>
          <a:ext cx="1024235" cy="86876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b="1" i="0" kern="1200" baseline="0" dirty="0">
              <a:latin typeface="quote-cjk-patch"/>
            </a:rPr>
            <a:t>MRP </a:t>
          </a:r>
          <a:r>
            <a:rPr lang="zh-CN" altLang="en-US" sz="1500" b="1" i="0" kern="1200" baseline="0" dirty="0">
              <a:latin typeface="quote-cjk-patch"/>
            </a:rPr>
            <a:t>分流成“自制”和“采购”</a:t>
          </a:r>
          <a:endParaRPr lang="zh-CN" altLang="en-US" sz="1500" b="1" i="0" kern="1200" baseline="0" dirty="0"/>
        </a:p>
      </dsp:txBody>
      <dsp:txXfrm>
        <a:off x="6352606" y="167592"/>
        <a:ext cx="973345" cy="817872"/>
      </dsp:txXfrm>
    </dsp:sp>
    <dsp:sp modelId="{C766D321-06CD-4A17-BD26-4C336F5E2A90}">
      <dsp:nvSpPr>
        <dsp:cNvPr id="0" name=""/>
        <dsp:cNvSpPr/>
      </dsp:nvSpPr>
      <dsp:spPr>
        <a:xfrm>
          <a:off x="7454076" y="449206"/>
          <a:ext cx="217679" cy="2546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7454076" y="500135"/>
        <a:ext cx="152375" cy="152786"/>
      </dsp:txXfrm>
    </dsp:sp>
    <dsp:sp modelId="{85FC1A30-0CA9-408F-9465-77A1C89357E6}">
      <dsp:nvSpPr>
        <dsp:cNvPr id="0" name=""/>
        <dsp:cNvSpPr/>
      </dsp:nvSpPr>
      <dsp:spPr>
        <a:xfrm>
          <a:off x="7762114" y="142147"/>
          <a:ext cx="1026792" cy="8687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b="1" i="0" kern="1200" baseline="0">
              <a:latin typeface="quote-cjk-patch"/>
            </a:rPr>
            <a:t>自制转生产计划 </a:t>
          </a:r>
          <a:endParaRPr lang="zh-CN" altLang="en-US" sz="1500" b="1" i="0" kern="1200" baseline="0" dirty="0"/>
        </a:p>
      </dsp:txBody>
      <dsp:txXfrm>
        <a:off x="7787559" y="167592"/>
        <a:ext cx="975902" cy="817872"/>
      </dsp:txXfrm>
    </dsp:sp>
    <dsp:sp modelId="{C770CB51-5549-42DC-B2D2-8A52DB4E64AC}">
      <dsp:nvSpPr>
        <dsp:cNvPr id="0" name=""/>
        <dsp:cNvSpPr/>
      </dsp:nvSpPr>
      <dsp:spPr>
        <a:xfrm>
          <a:off x="8891586" y="449206"/>
          <a:ext cx="217679" cy="2546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8891586" y="500135"/>
        <a:ext cx="152375" cy="152786"/>
      </dsp:txXfrm>
    </dsp:sp>
    <dsp:sp modelId="{8C763169-EF12-4F8F-A9F9-42578FE08916}">
      <dsp:nvSpPr>
        <dsp:cNvPr id="0" name=""/>
        <dsp:cNvSpPr/>
      </dsp:nvSpPr>
      <dsp:spPr>
        <a:xfrm>
          <a:off x="9199623" y="142147"/>
          <a:ext cx="943827" cy="8687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b="1" i="0" kern="1200" baseline="0" dirty="0">
              <a:latin typeface="quote-cjk-patch"/>
            </a:rPr>
            <a:t>派工      领料           完工 </a:t>
          </a:r>
          <a:endParaRPr lang="zh-CN" altLang="en-US" sz="1500" b="1" i="0" kern="1200" baseline="0" dirty="0"/>
        </a:p>
      </dsp:txBody>
      <dsp:txXfrm>
        <a:off x="9225068" y="167592"/>
        <a:ext cx="892937" cy="817872"/>
      </dsp:txXfrm>
    </dsp:sp>
    <dsp:sp modelId="{0EF6D0C1-2A1D-44DB-AC63-0A76B5AE23E7}">
      <dsp:nvSpPr>
        <dsp:cNvPr id="0" name=""/>
        <dsp:cNvSpPr/>
      </dsp:nvSpPr>
      <dsp:spPr>
        <a:xfrm>
          <a:off x="10246130" y="449206"/>
          <a:ext cx="217679" cy="2546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10246130" y="500135"/>
        <a:ext cx="152375" cy="152786"/>
      </dsp:txXfrm>
    </dsp:sp>
    <dsp:sp modelId="{3D4D1127-C728-40CF-9EBA-C28C73F7F315}">
      <dsp:nvSpPr>
        <dsp:cNvPr id="0" name=""/>
        <dsp:cNvSpPr/>
      </dsp:nvSpPr>
      <dsp:spPr>
        <a:xfrm>
          <a:off x="10554168" y="142147"/>
          <a:ext cx="823713" cy="8687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b="1" i="0" kern="1200" baseline="0" dirty="0">
              <a:latin typeface="quote-cjk-patch"/>
            </a:rPr>
            <a:t>入库     出库</a:t>
          </a:r>
          <a:endParaRPr lang="zh-CN" altLang="en-US" sz="1500" b="1" i="0" kern="1200" baseline="0" dirty="0"/>
        </a:p>
      </dsp:txBody>
      <dsp:txXfrm>
        <a:off x="10578294" y="166273"/>
        <a:ext cx="775461" cy="8205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F7076-BD3E-4C8F-A3AE-DCA7F0AEE2F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04DF9-4765-4546-BCAD-864B18165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229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这张图是计划管理模块的总体关系图。左边是需求来源，销售订单和补库申请汇总到统一需求表；中间是计划层，需求生成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触发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MRP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算完以后按供应类型分成自制和采购两条线；右边是执行层，自制转生产计划，再往下派工、领料、完工报工，最后回写库存。所以计划模块在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ERP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里起到承上启下的作用。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04DF9-4765-4546-BCAD-864B181657F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670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“这张图是计划管理模块的核心表结构。我们统一用 </a:t>
            </a:r>
            <a:r>
              <a:rPr lang="en-US" altLang="zh-CN" dirty="0"/>
              <a:t>id BIGINT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做代理主键，业务单号比如 </a:t>
            </a:r>
            <a:r>
              <a:rPr lang="en-US" altLang="zh-CN" dirty="0" err="1"/>
              <a:t>mps_no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dirty="0" err="1"/>
              <a:t>plan_no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加唯一约束。外键统一指向对方表的 </a:t>
            </a:r>
            <a:r>
              <a:rPr lang="en-US" altLang="zh-CN" dirty="0"/>
              <a:t>id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行是一对多，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MRP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运算批次和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MRP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结果是一对多，生产计划和派工单、完工报告也是一对多。这样设计的好处是：业务单号可以变，但内部关联始终稳定；头行结构清晰，方便查询和级联删除。”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04DF9-4765-4546-BCAD-864B181657F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533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## </a:t>
            </a:r>
            <a:r>
              <a:rPr lang="zh-CN" altLang="en-US" dirty="0"/>
              <a:t>提交规范格式</a:t>
            </a:r>
            <a:r>
              <a:rPr lang="en-US" altLang="zh-CN" dirty="0"/>
              <a:t>`&lt;type&gt;(&lt;scope&gt;): &lt;subject&gt;` </a:t>
            </a:r>
            <a:r>
              <a:rPr lang="zh-CN" altLang="en-US" dirty="0"/>
              <a:t>，用祈使句、小写开头：</a:t>
            </a:r>
            <a:r>
              <a:rPr lang="en-US" altLang="zh-CN" dirty="0"/>
              <a:t>- `type` </a:t>
            </a:r>
            <a:r>
              <a:rPr lang="zh-CN" altLang="en-US" dirty="0"/>
              <a:t>：</a:t>
            </a:r>
            <a:r>
              <a:rPr lang="en-US" altLang="zh-CN" dirty="0"/>
              <a:t>`feat` /`fix` /`docs` /`refactor` /`test` /`chore`- `scope` </a:t>
            </a:r>
            <a:r>
              <a:rPr lang="zh-CN" altLang="en-US" dirty="0"/>
              <a:t>：模块名或公共层名（</a:t>
            </a:r>
            <a:r>
              <a:rPr lang="en-US" altLang="zh-CN" dirty="0"/>
              <a:t>`system` /`sales` /`planning` /`procurement` /`inventory` /`</a:t>
            </a:r>
            <a:r>
              <a:rPr lang="en-US" altLang="zh-CN" dirty="0" err="1"/>
              <a:t>api</a:t>
            </a:r>
            <a:r>
              <a:rPr lang="en-US" altLang="zh-CN" dirty="0"/>
              <a:t>` /`</a:t>
            </a:r>
            <a:r>
              <a:rPr lang="en-US" altLang="zh-CN" dirty="0" err="1"/>
              <a:t>db</a:t>
            </a:r>
            <a:r>
              <a:rPr lang="en-US" altLang="zh-CN" dirty="0"/>
              <a:t>` /`docs` /`core` </a:t>
            </a:r>
            <a:r>
              <a:rPr lang="zh-CN" altLang="en-US" dirty="0"/>
              <a:t>）要求 模块化提交，不要一个 </a:t>
            </a:r>
            <a:r>
              <a:rPr lang="en-US" altLang="zh-CN" dirty="0"/>
              <a:t>commit </a:t>
            </a:r>
            <a:r>
              <a:rPr lang="zh-CN" altLang="en-US" dirty="0"/>
              <a:t>做完整个系统 ，便于后续五人分别接管。现有历史即遵循此风格，</a:t>
            </a:r>
            <a:endParaRPr lang="en-US" altLang="zh-CN" dirty="0"/>
          </a:p>
          <a:p>
            <a:r>
              <a:rPr lang="en-US" altLang="zh-CN" dirty="0"/>
              <a:t>## PR </a:t>
            </a:r>
            <a:r>
              <a:rPr lang="zh-CN" altLang="en-US" dirty="0"/>
              <a:t>流程</a:t>
            </a:r>
            <a:r>
              <a:rPr lang="en-US" altLang="zh-CN" dirty="0"/>
              <a:t>`feature/&lt;module&gt; → develop` </a:t>
            </a:r>
            <a:r>
              <a:rPr lang="zh-CN" altLang="en-US" dirty="0"/>
              <a:t>（开发期随时可提）、</a:t>
            </a:r>
            <a:r>
              <a:rPr lang="en-US" altLang="zh-CN" dirty="0"/>
              <a:t>`develop → main` </a:t>
            </a:r>
            <a:r>
              <a:rPr lang="zh-CN" altLang="en-US" dirty="0"/>
              <a:t>（集成测试通过后）。</a:t>
            </a:r>
            <a:endParaRPr lang="en-US" altLang="zh-CN" dirty="0"/>
          </a:p>
          <a:p>
            <a:r>
              <a:rPr lang="en-US" altLang="zh-CN" dirty="0"/>
              <a:t>PR </a:t>
            </a:r>
            <a:r>
              <a:rPr lang="zh-CN" altLang="en-US" dirty="0"/>
              <a:t>需填 </a:t>
            </a:r>
            <a:r>
              <a:rPr lang="en-US" altLang="zh-CN" dirty="0"/>
              <a:t>pull_request_template.md </a:t>
            </a:r>
            <a:r>
              <a:rPr lang="zh-CN" altLang="en-US" dirty="0"/>
              <a:t>，写清做了什么</a:t>
            </a:r>
            <a:r>
              <a:rPr lang="en-US" altLang="zh-CN" dirty="0"/>
              <a:t>/</a:t>
            </a:r>
            <a:r>
              <a:rPr lang="zh-CN" altLang="en-US" dirty="0"/>
              <a:t>影响范围</a:t>
            </a:r>
            <a:r>
              <a:rPr lang="en-US" altLang="zh-CN" dirty="0"/>
              <a:t>/</a:t>
            </a:r>
            <a:r>
              <a:rPr lang="zh-CN" altLang="en-US" dirty="0"/>
              <a:t>如何验证，至少 </a:t>
            </a:r>
            <a:r>
              <a:rPr lang="en-US" altLang="zh-CN" dirty="0"/>
              <a:t>1 </a:t>
            </a:r>
            <a:r>
              <a:rPr lang="zh-CN" altLang="en-US" dirty="0"/>
              <a:t>人 </a:t>
            </a:r>
            <a:r>
              <a:rPr lang="en-US" altLang="zh-CN" dirty="0"/>
              <a:t>Review</a:t>
            </a:r>
            <a:r>
              <a:rPr lang="zh-CN" altLang="en-US" dirty="0"/>
              <a:t>；冲突要在自己的分支上解决，不在</a:t>
            </a:r>
            <a:r>
              <a:rPr lang="en-US" altLang="zh-CN" dirty="0"/>
              <a:t>`develop` </a:t>
            </a:r>
            <a:r>
              <a:rPr lang="zh-CN" altLang="en-US" dirty="0"/>
              <a:t>上解冲突。</a:t>
            </a:r>
            <a:r>
              <a:rPr lang="en-US" altLang="zh-CN" dirty="0"/>
              <a:t>## </a:t>
            </a:r>
            <a:r>
              <a:rPr lang="zh-CN" altLang="en-US" dirty="0"/>
              <a:t>红线禁止</a:t>
            </a:r>
            <a:r>
              <a:rPr lang="en-US" altLang="zh-CN" dirty="0"/>
              <a:t>`git push --force` </a:t>
            </a:r>
            <a:r>
              <a:rPr lang="zh-CN" altLang="en-US" dirty="0"/>
              <a:t>、禁止重写他人历史、禁止长期直推</a:t>
            </a:r>
            <a:r>
              <a:rPr lang="en-US" altLang="zh-CN" dirty="0"/>
              <a:t>`main` </a:t>
            </a:r>
            <a:r>
              <a:rPr lang="zh-CN" altLang="en-US" dirty="0"/>
              <a:t>、禁止引入</a:t>
            </a:r>
            <a:r>
              <a:rPr lang="en-US" altLang="zh-CN" dirty="0"/>
              <a:t>`release/*` /`hotfix/*` /git-flow</a:t>
            </a:r>
            <a:r>
              <a:rPr lang="zh-CN" altLang="en-US" dirty="0"/>
              <a:t>；不提交</a:t>
            </a:r>
            <a:r>
              <a:rPr lang="en-US" altLang="zh-CN" dirty="0"/>
              <a:t>`.env` </a:t>
            </a:r>
            <a:r>
              <a:rPr lang="zh-CN" altLang="en-US" dirty="0"/>
              <a:t>、</a:t>
            </a:r>
            <a:r>
              <a:rPr lang="en-US" altLang="zh-CN" dirty="0"/>
              <a:t>`</a:t>
            </a:r>
            <a:r>
              <a:rPr lang="en-US" altLang="zh-CN" dirty="0" err="1"/>
              <a:t>node_modules</a:t>
            </a:r>
            <a:r>
              <a:rPr lang="en-US" altLang="zh-CN" dirty="0"/>
              <a:t>/` </a:t>
            </a:r>
            <a:r>
              <a:rPr lang="zh-CN" altLang="en-US" dirty="0"/>
              <a:t>、</a:t>
            </a:r>
            <a:r>
              <a:rPr lang="en-US" altLang="zh-CN" dirty="0"/>
              <a:t>`.</a:t>
            </a:r>
            <a:r>
              <a:rPr lang="en-US" altLang="zh-CN" dirty="0" err="1"/>
              <a:t>venv</a:t>
            </a:r>
            <a:r>
              <a:rPr lang="en-US" altLang="zh-CN" dirty="0"/>
              <a:t>/` </a:t>
            </a:r>
            <a:r>
              <a:rPr lang="zh-CN" altLang="en-US" dirty="0"/>
              <a:t>、数据库文件；模型变更时迁移文件必须成对提交。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04DF9-4765-4546-BCAD-864B181657F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2237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76BDD-580B-4D1A-BF24-38BE54459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5955C5-9AF7-47AE-810D-599410B57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5D9B7D-7387-479B-A169-E3A3C4691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F9A0-DEB4-4FE9-AA51-88B1BED6F42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4B5FE8-9EE9-4EC3-8BDE-040D9D805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B68DDA-93F2-465B-973D-8CC9124C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E86DD-6606-4CE5-BC30-77EEE06B7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855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EDCD5-EB9F-4C88-8994-C7F5CBE4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FD99E2-8141-4527-BDB9-FBA46E73F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20406A-4B85-4512-8DFB-544DC8994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F9A0-DEB4-4FE9-AA51-88B1BED6F42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A985BC-E6D5-48D5-88FD-A4648A00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BF79A-3072-41CF-85B7-209236CF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E86DD-6606-4CE5-BC30-77EEE06B7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31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82C0AC-3381-473E-BF69-779D5CF60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3E3CDC-0A0C-4AC0-8511-186CF556B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5B909F-65A6-478A-9B79-2282D8CB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F9A0-DEB4-4FE9-AA51-88B1BED6F42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63BC6A-8937-41CE-B200-39624C61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FFC1A3-9CB1-457A-8774-3395879A7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E86DD-6606-4CE5-BC30-77EEE06B7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808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15F98-2500-4AB5-BFA9-79A6B9F28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218D24-B82F-4ACF-9BD8-C240F6125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BF4A46-41D0-443D-A76E-D9454AA35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54CC22-D11B-4B15-B507-3D6AB00B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F9A0-DEB4-4FE9-AA51-88B1BED6F42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A15538-1447-4A31-A96E-5CFF0B05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2CDFC0-A02A-4BF1-93DA-DB220CFF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E86DD-6606-4CE5-BC30-77EEE06B7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53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91471-44A0-4738-B4E7-3F598F0B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3C282C-726D-4666-9BED-598C44D19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297896-F7F3-4EC3-874D-1A8BB2485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1BDD10-E46E-4DA3-B882-8C7D3EC90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D03F2E-ADEC-4FD9-879A-76BA69F59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84BB852-7A59-4E46-9BBB-4A760A03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F9A0-DEB4-4FE9-AA51-88B1BED6F42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F20E3D-B1AA-45D2-A94D-A1D9BE15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4ABB32-F5EC-4D50-A260-FFCC7407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E86DD-6606-4CE5-BC30-77EEE06B7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392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19A55F-8AA6-4C30-A50C-3821ACFFB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0B7712-36BD-4FDE-A35A-D89390EAB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F9A0-DEB4-4FE9-AA51-88B1BED6F42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669C0A-9328-4CB2-AAA9-FDB4DF09F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61BC2A-8D9B-427C-87E9-B16E9152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E86DD-6606-4CE5-BC30-77EEE06B7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83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2D6D2D-8BAF-494C-981A-016842777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F9A0-DEB4-4FE9-AA51-88B1BED6F42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FD0602-739D-4D7C-9E48-1A49B44BF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C38935-D2F2-47E9-8A16-2481E6E5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E86DD-6606-4CE5-BC30-77EEE06B7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67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7389A-F93F-4985-80EA-BD155640F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23D923-8A68-454B-B408-74E5424B6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C7DE8B-255C-4B25-A273-3A1B8D761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364DC9-2AF8-4AA8-86CE-10CA284A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F9A0-DEB4-4FE9-AA51-88B1BED6F42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816C3A-5BCF-40CE-B5E2-8E1BF9D4C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CD7967-AA8D-4E3C-9CB8-16A82DA9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E86DD-6606-4CE5-BC30-77EEE06B7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452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872F3-4C9D-4A3B-B264-25CD1448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FC40272-A297-4B75-A69E-1137ABB7A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14C34D-E8B0-43AD-83B3-12E7611DC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EF7B98-D3D9-4152-8045-D8E1846BB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F9A0-DEB4-4FE9-AA51-88B1BED6F42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CA769D-87AB-4DB1-9C2B-D2BA8B83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87FC77-766E-4F6E-8FF1-EAB8A351D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E86DD-6606-4CE5-BC30-77EEE06B7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892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E9890-335E-45B6-B588-85D9EBD7E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79B372-ED62-4A49-9C65-6B906AA25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F109B1-2685-4ED0-9ECF-0B7642463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F9A0-DEB4-4FE9-AA51-88B1BED6F42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E65DEF-463E-4846-96E2-01C55DD05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83983E-242D-4701-86AD-4F7B6446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E86DD-6606-4CE5-BC30-77EEE06B7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632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886E7D0-BA2C-4D34-A840-917866B70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B788DC-BF5E-4226-865E-ACBE0FC77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2D2812-C9F2-4CB1-8F56-0C07EF77F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F9A0-DEB4-4FE9-AA51-88B1BED6F42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0045C6-D2AB-41B2-9032-CBC8DF86D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DEF7C4-BCC1-4183-AA0A-D9E6B331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E86DD-6606-4CE5-BC30-77EEE06B7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1736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146ED92-2E0B-48E7-A176-EE1B3E372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70C440-0132-4DC3-80DC-1F5DC213C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026934-7C45-4C29-852E-73B40EFFA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1F9A0-DEB4-4FE9-AA51-88B1BED6F42B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ACF6B6-58FF-472C-B91D-8F58F7582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409DB4-E135-44F1-BED5-057F4F895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E86DD-6606-4CE5-BC30-77EEE06B7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88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diagramData" Target="../diagrams/data1.xml"/><Relationship Id="rId9" Type="http://schemas.openxmlformats.org/officeDocument/2006/relationships/diagramLayout" Target="../diagrams/layout1.xml"/><Relationship Id="rId10" Type="http://schemas.openxmlformats.org/officeDocument/2006/relationships/diagramQuickStyle" Target="../diagrams/quickStyle1.xml"/><Relationship Id="rId11" Type="http://schemas.openxmlformats.org/officeDocument/2006/relationships/diagramColors" Target="../diagrams/colors1.xml"/><Relationship Id="rId12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>
            <a:extLst>
              <a:ext uri="{FF2B5EF4-FFF2-40B4-BE49-F238E27FC236}">
                <a16:creationId xmlns:a16="http://schemas.microsoft.com/office/drawing/2014/main" id="{0AC69A9E-43BF-4C01-B20F-E6263A637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9694" y="2040931"/>
            <a:ext cx="4874641" cy="4874641"/>
          </a:xfrm>
          <a:prstGeom prst="rect">
            <a:avLst/>
          </a:prstGeom>
        </p:spPr>
      </p:pic>
      <p:pic>
        <p:nvPicPr>
          <p:cNvPr id="51" name="图片占位符 10">
            <a:extLst>
              <a:ext uri="{FF2B5EF4-FFF2-40B4-BE49-F238E27FC236}">
                <a16:creationId xmlns:a16="http://schemas.microsoft.com/office/drawing/2014/main" id="{4A45EEC4-57B3-48D1-9228-0686F8DEE0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3068960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76405797-37B5-4B4F-821C-7687F80FDFC8}"/>
              </a:ext>
            </a:extLst>
          </p:cNvPr>
          <p:cNvSpPr/>
          <p:nvPr/>
        </p:nvSpPr>
        <p:spPr>
          <a:xfrm>
            <a:off x="0" y="0"/>
            <a:ext cx="12191998" cy="3068960"/>
          </a:xfrm>
          <a:prstGeom prst="rect">
            <a:avLst/>
          </a:prstGeom>
          <a:solidFill>
            <a:srgbClr val="0C49B7">
              <a:alpha val="8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sp>
        <p:nvSpPr>
          <p:cNvPr id="53" name="文本占位符 8">
            <a:extLst>
              <a:ext uri="{FF2B5EF4-FFF2-40B4-BE49-F238E27FC236}">
                <a16:creationId xmlns:a16="http://schemas.microsoft.com/office/drawing/2014/main" id="{0EB26F33-B629-4284-8E8E-692509EC5E59}"/>
              </a:ext>
            </a:extLst>
          </p:cNvPr>
          <p:cNvSpPr txBox="1">
            <a:spLocks/>
          </p:cNvSpPr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rgbClr val="0C49B7"/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2DF1559D-8548-4E0E-BF5B-8BFFA2E26E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755" y="6406826"/>
            <a:ext cx="2095523" cy="334822"/>
          </a:xfrm>
          <a:prstGeom prst="rect">
            <a:avLst/>
          </a:prstGeom>
        </p:spPr>
      </p:pic>
      <p:sp>
        <p:nvSpPr>
          <p:cNvPr id="55" name="标题 4">
            <a:extLst>
              <a:ext uri="{FF2B5EF4-FFF2-40B4-BE49-F238E27FC236}">
                <a16:creationId xmlns:a16="http://schemas.microsoft.com/office/drawing/2014/main" id="{E7D8CBE5-FE9F-418C-936F-F0EA8209FD6F}"/>
              </a:ext>
            </a:extLst>
          </p:cNvPr>
          <p:cNvSpPr txBox="1">
            <a:spLocks/>
          </p:cNvSpPr>
          <p:nvPr/>
        </p:nvSpPr>
        <p:spPr>
          <a:xfrm>
            <a:off x="3431702" y="4358360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C49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计划管理模块</a:t>
            </a: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F28A7BC2-F7B5-4629-BACA-BDE4C609FC28}"/>
              </a:ext>
            </a:extLst>
          </p:cNvPr>
          <p:cNvCxnSpPr>
            <a:cxnSpLocks/>
          </p:cNvCxnSpPr>
          <p:nvPr/>
        </p:nvCxnSpPr>
        <p:spPr>
          <a:xfrm>
            <a:off x="3719736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rgbClr val="0C49B7"/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2636ED38-FA38-4595-BA88-F62DA9746ACA}"/>
              </a:ext>
            </a:extLst>
          </p:cNvPr>
          <p:cNvSpPr txBox="1"/>
          <p:nvPr/>
        </p:nvSpPr>
        <p:spPr>
          <a:xfrm>
            <a:off x="5250253" y="2386575"/>
            <a:ext cx="16914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prstClr val="white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03</a:t>
            </a:r>
            <a:endParaRPr lang="zh-CN" altLang="en-US" sz="8800" b="1" dirty="0">
              <a:solidFill>
                <a:prstClr val="white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18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03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3009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计划管理模块业务流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436F33F2-302C-48F5-AE73-9939F32E1E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88" y="1047801"/>
            <a:ext cx="11713824" cy="3059200"/>
          </a:xfrm>
          <a:prstGeom prst="rect">
            <a:avLst/>
          </a:prstGeom>
        </p:spPr>
      </p:pic>
      <p:graphicFrame>
        <p:nvGraphicFramePr>
          <p:cNvPr id="20" name="图示 19">
            <a:extLst>
              <a:ext uri="{FF2B5EF4-FFF2-40B4-BE49-F238E27FC236}">
                <a16:creationId xmlns:a16="http://schemas.microsoft.com/office/drawing/2014/main" id="{F341FD70-D2A7-4233-94F4-C26A50AECF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6026393"/>
              </p:ext>
            </p:extLst>
          </p:nvPr>
        </p:nvGraphicFramePr>
        <p:xfrm>
          <a:off x="438961" y="4740549"/>
          <a:ext cx="11382251" cy="1153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65892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03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993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计划管理模块内部核心表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15A0BD8B-FF21-4653-84D1-51BA91C9E2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61" y="1187347"/>
            <a:ext cx="6329025" cy="491906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894F43A-7508-441B-B4C6-112488DDF582}"/>
              </a:ext>
            </a:extLst>
          </p:cNvPr>
          <p:cNvSpPr/>
          <p:nvPr/>
        </p:nvSpPr>
        <p:spPr>
          <a:xfrm>
            <a:off x="7272164" y="2889338"/>
            <a:ext cx="3851465" cy="2536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：主键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mps_no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MPS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单号，唯一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plan_date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：计划日期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status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：状态，比如草稿、已下达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一张 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MPS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对应多条明细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A714DD-FF74-4ABF-9D32-325769AEED95}"/>
              </a:ext>
            </a:extLst>
          </p:cNvPr>
          <p:cNvSpPr/>
          <p:nvPr/>
        </p:nvSpPr>
        <p:spPr>
          <a:xfrm>
            <a:off x="7272164" y="2305027"/>
            <a:ext cx="3621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pln_mps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：主生产计划头</a:t>
            </a:r>
          </a:p>
        </p:txBody>
      </p:sp>
    </p:spTree>
    <p:extLst>
      <p:ext uri="{BB962C8B-B14F-4D97-AF65-F5344CB8AC3E}">
        <p14:creationId xmlns:p14="http://schemas.microsoft.com/office/powerpoint/2010/main" val="48134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03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993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计划管理模块内部核心表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15A0BD8B-FF21-4653-84D1-51BA91C9E2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61" y="1187347"/>
            <a:ext cx="6329025" cy="491906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894F43A-7508-441B-B4C6-112488DDF582}"/>
              </a:ext>
            </a:extLst>
          </p:cNvPr>
          <p:cNvSpPr/>
          <p:nvPr/>
        </p:nvSpPr>
        <p:spPr>
          <a:xfrm>
            <a:off x="7196750" y="2255402"/>
            <a:ext cx="4332232" cy="3367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：主键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mps_id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：外键，指向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pln_mps.id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material_id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：外键，指向物料表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planned_qty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：计划生产数量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period_start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period_end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：计划期间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它回答的是：“哪个成品，在哪个期间，计划生产多少。”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A714DD-FF74-4ABF-9D32-325769AEED95}"/>
              </a:ext>
            </a:extLst>
          </p:cNvPr>
          <p:cNvSpPr/>
          <p:nvPr/>
        </p:nvSpPr>
        <p:spPr>
          <a:xfrm>
            <a:off x="7196750" y="1671091"/>
            <a:ext cx="44358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pln_mps_item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：主生产计划行</a:t>
            </a:r>
          </a:p>
        </p:txBody>
      </p:sp>
    </p:spTree>
    <p:extLst>
      <p:ext uri="{BB962C8B-B14F-4D97-AF65-F5344CB8AC3E}">
        <p14:creationId xmlns:p14="http://schemas.microsoft.com/office/powerpoint/2010/main" val="2781151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03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993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计划管理模块内部核心表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15A0BD8B-FF21-4653-84D1-51BA91C9E2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61" y="1187347"/>
            <a:ext cx="6329025" cy="491906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894F43A-7508-441B-B4C6-112488DDF582}"/>
              </a:ext>
            </a:extLst>
          </p:cNvPr>
          <p:cNvSpPr/>
          <p:nvPr/>
        </p:nvSpPr>
        <p:spPr>
          <a:xfrm>
            <a:off x="7281591" y="2463151"/>
            <a:ext cx="4313378" cy="2951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：主键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run_no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：运算批次号，唯一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run_time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：运算时间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status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：运算状态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一次 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MRP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运算产生一个 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run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记录，方便追溯“这次结果是什么时候算出来的”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A714DD-FF74-4ABF-9D32-325769AEED95}"/>
              </a:ext>
            </a:extLst>
          </p:cNvPr>
          <p:cNvSpPr/>
          <p:nvPr/>
        </p:nvSpPr>
        <p:spPr>
          <a:xfrm>
            <a:off x="7281591" y="1878840"/>
            <a:ext cx="4480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pln_mrp_run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MRP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运算批次</a:t>
            </a:r>
          </a:p>
        </p:txBody>
      </p:sp>
    </p:spTree>
    <p:extLst>
      <p:ext uri="{BB962C8B-B14F-4D97-AF65-F5344CB8AC3E}">
        <p14:creationId xmlns:p14="http://schemas.microsoft.com/office/powerpoint/2010/main" val="102514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03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993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计划管理模块内部核心表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15A0BD8B-FF21-4653-84D1-51BA91C9E2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61" y="1187347"/>
            <a:ext cx="6329025" cy="491906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894F43A-7508-441B-B4C6-112488DDF582}"/>
              </a:ext>
            </a:extLst>
          </p:cNvPr>
          <p:cNvSpPr/>
          <p:nvPr/>
        </p:nvSpPr>
        <p:spPr>
          <a:xfrm>
            <a:off x="7021643" y="1593370"/>
            <a:ext cx="4995250" cy="4613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：主键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run_id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：外键，指向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pln_mrp_run.id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material_id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：外键，指向物料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gross_req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：毛需求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available_qty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：可用库存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net_req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：净需求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= max(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毛需求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+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安全库存 − 可用库存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, 0)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suggested_date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：建议下达日期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supply_type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：供应类型，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MAKE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或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BUY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它回答的是：“这个物料，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MRP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算完以后，还差多少，什么时候该下达，是自制还是采购。”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A714DD-FF74-4ABF-9D32-325769AEED95}"/>
              </a:ext>
            </a:extLst>
          </p:cNvPr>
          <p:cNvSpPr/>
          <p:nvPr/>
        </p:nvSpPr>
        <p:spPr>
          <a:xfrm>
            <a:off x="7021643" y="1009059"/>
            <a:ext cx="48077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pln_mrp_result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MRP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运算结果</a:t>
            </a:r>
          </a:p>
        </p:txBody>
      </p:sp>
    </p:spTree>
    <p:extLst>
      <p:ext uri="{BB962C8B-B14F-4D97-AF65-F5344CB8AC3E}">
        <p14:creationId xmlns:p14="http://schemas.microsoft.com/office/powerpoint/2010/main" val="2427126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03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993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计划管理模块内部核心表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15A0BD8B-FF21-4653-84D1-51BA91C9E2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61" y="1187347"/>
            <a:ext cx="6329025" cy="491906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894F43A-7508-441B-B4C6-112488DDF582}"/>
              </a:ext>
            </a:extLst>
          </p:cNvPr>
          <p:cNvSpPr/>
          <p:nvPr/>
        </p:nvSpPr>
        <p:spPr>
          <a:xfrm>
            <a:off x="7168469" y="2047652"/>
            <a:ext cx="4584570" cy="3782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：主键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plan_no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：计划单号，唯一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material_id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：外键，产出物料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plan_qty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：计划生产数量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start_date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end_date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：计划起止日期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status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：状态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MRP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结果里 </a:t>
            </a:r>
            <a:r>
              <a:rPr lang="en-US" altLang="zh-CN" b="1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supply_type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= MAKE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的行，会转成生产作业计划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A714DD-FF74-4ABF-9D32-325769AEED95}"/>
              </a:ext>
            </a:extLst>
          </p:cNvPr>
          <p:cNvSpPr/>
          <p:nvPr/>
        </p:nvSpPr>
        <p:spPr>
          <a:xfrm>
            <a:off x="6567965" y="1416596"/>
            <a:ext cx="54489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pln_production_plan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：生产作业计划</a:t>
            </a:r>
          </a:p>
        </p:txBody>
      </p:sp>
    </p:spTree>
    <p:extLst>
      <p:ext uri="{BB962C8B-B14F-4D97-AF65-F5344CB8AC3E}">
        <p14:creationId xmlns:p14="http://schemas.microsoft.com/office/powerpoint/2010/main" val="312696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03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993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计划管理模块内部核心表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15A0BD8B-FF21-4653-84D1-51BA91C9E2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61" y="1187347"/>
            <a:ext cx="6329025" cy="491906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894F43A-7508-441B-B4C6-112488DDF582}"/>
              </a:ext>
            </a:extLst>
          </p:cNvPr>
          <p:cNvSpPr/>
          <p:nvPr/>
        </p:nvSpPr>
        <p:spPr>
          <a:xfrm>
            <a:off x="7291018" y="1839903"/>
            <a:ext cx="4313378" cy="4198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：主键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dispatch_no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：派工单号，唯一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plan_id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：外键，指向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pln_production_plan.id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process_name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：工序名称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dispatch_qty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：派工数量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status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：状态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一个生产计划可以拆成多张派工单，下达到具体工序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A714DD-FF74-4ABF-9D32-325769AEED95}"/>
              </a:ext>
            </a:extLst>
          </p:cNvPr>
          <p:cNvSpPr/>
          <p:nvPr/>
        </p:nvSpPr>
        <p:spPr>
          <a:xfrm>
            <a:off x="7291018" y="1255592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pln_dispatch_order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：派工单</a:t>
            </a:r>
          </a:p>
        </p:txBody>
      </p:sp>
    </p:spTree>
    <p:extLst>
      <p:ext uri="{BB962C8B-B14F-4D97-AF65-F5344CB8AC3E}">
        <p14:creationId xmlns:p14="http://schemas.microsoft.com/office/powerpoint/2010/main" val="31108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03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993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计划管理模块内部核心表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15A0BD8B-FF21-4653-84D1-51BA91C9E2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61" y="1187347"/>
            <a:ext cx="6329025" cy="491906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894F43A-7508-441B-B4C6-112488DDF582}"/>
              </a:ext>
            </a:extLst>
          </p:cNvPr>
          <p:cNvSpPr/>
          <p:nvPr/>
        </p:nvSpPr>
        <p:spPr>
          <a:xfrm>
            <a:off x="6887476" y="1538186"/>
            <a:ext cx="5190071" cy="4613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：主键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report_no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：报告单号，唯一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plan_id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：外键，指向生产计划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dispatch_id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：外键，指向派工单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material_id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：外键，产出物料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completed_qty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：完工数量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qualified_qty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：合格数量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scrap_qty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：报废数量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warehouse_id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：外键，入库仓库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report_date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：报工日期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完工报告确认后，</a:t>
            </a:r>
            <a:r>
              <a:rPr lang="en-US" altLang="zh-CN" b="1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qualified_qty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会触发库存入库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A714DD-FF74-4ABF-9D32-325769AEED95}"/>
              </a:ext>
            </a:extLst>
          </p:cNvPr>
          <p:cNvSpPr/>
          <p:nvPr/>
        </p:nvSpPr>
        <p:spPr>
          <a:xfrm>
            <a:off x="6887477" y="953875"/>
            <a:ext cx="5086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pln_completion_report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：完工报告</a:t>
            </a:r>
          </a:p>
        </p:txBody>
      </p:sp>
    </p:spTree>
    <p:extLst>
      <p:ext uri="{BB962C8B-B14F-4D97-AF65-F5344CB8AC3E}">
        <p14:creationId xmlns:p14="http://schemas.microsoft.com/office/powerpoint/2010/main" val="317666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03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界面设计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634F2B69-FB01-411F-A3EC-E88F1681AC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916" y="1009059"/>
            <a:ext cx="10298167" cy="49291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ECF8D12-BADD-4916-B0C3-0C738498B3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331" y="1009059"/>
            <a:ext cx="10348749" cy="495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30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>
            <a:extLst>
              <a:ext uri="{FF2B5EF4-FFF2-40B4-BE49-F238E27FC236}">
                <a16:creationId xmlns:a16="http://schemas.microsoft.com/office/drawing/2014/main" id="{0AC69A9E-43BF-4C01-B20F-E6263A637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9694" y="2040931"/>
            <a:ext cx="4874641" cy="4874641"/>
          </a:xfrm>
          <a:prstGeom prst="rect">
            <a:avLst/>
          </a:prstGeom>
        </p:spPr>
      </p:pic>
      <p:pic>
        <p:nvPicPr>
          <p:cNvPr id="51" name="图片占位符 10">
            <a:extLst>
              <a:ext uri="{FF2B5EF4-FFF2-40B4-BE49-F238E27FC236}">
                <a16:creationId xmlns:a16="http://schemas.microsoft.com/office/drawing/2014/main" id="{4A45EEC4-57B3-48D1-9228-0686F8DEE0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3068960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76405797-37B5-4B4F-821C-7687F80FDFC8}"/>
              </a:ext>
            </a:extLst>
          </p:cNvPr>
          <p:cNvSpPr/>
          <p:nvPr/>
        </p:nvSpPr>
        <p:spPr>
          <a:xfrm>
            <a:off x="0" y="0"/>
            <a:ext cx="12191998" cy="3068960"/>
          </a:xfrm>
          <a:prstGeom prst="rect">
            <a:avLst/>
          </a:prstGeom>
          <a:solidFill>
            <a:srgbClr val="0C49B7">
              <a:alpha val="8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sp>
        <p:nvSpPr>
          <p:cNvPr id="53" name="文本占位符 8">
            <a:extLst>
              <a:ext uri="{FF2B5EF4-FFF2-40B4-BE49-F238E27FC236}">
                <a16:creationId xmlns:a16="http://schemas.microsoft.com/office/drawing/2014/main" id="{0EB26F33-B629-4284-8E8E-692509EC5E59}"/>
              </a:ext>
            </a:extLst>
          </p:cNvPr>
          <p:cNvSpPr txBox="1">
            <a:spLocks/>
          </p:cNvSpPr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rgbClr val="0C49B7"/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2DF1559D-8548-4E0E-BF5B-8BFFA2E26E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755" y="6406826"/>
            <a:ext cx="2095523" cy="334822"/>
          </a:xfrm>
          <a:prstGeom prst="rect">
            <a:avLst/>
          </a:prstGeom>
        </p:spPr>
      </p:pic>
      <p:sp>
        <p:nvSpPr>
          <p:cNvPr id="55" name="标题 4">
            <a:extLst>
              <a:ext uri="{FF2B5EF4-FFF2-40B4-BE49-F238E27FC236}">
                <a16:creationId xmlns:a16="http://schemas.microsoft.com/office/drawing/2014/main" id="{E7D8CBE5-FE9F-418C-936F-F0EA8209FD6F}"/>
              </a:ext>
            </a:extLst>
          </p:cNvPr>
          <p:cNvSpPr txBox="1">
            <a:spLocks/>
          </p:cNvSpPr>
          <p:nvPr/>
        </p:nvSpPr>
        <p:spPr>
          <a:xfrm>
            <a:off x="3431702" y="4358360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C49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版本控制</a:t>
            </a: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F28A7BC2-F7B5-4629-BACA-BDE4C609FC28}"/>
              </a:ext>
            </a:extLst>
          </p:cNvPr>
          <p:cNvCxnSpPr>
            <a:cxnSpLocks/>
          </p:cNvCxnSpPr>
          <p:nvPr/>
        </p:nvCxnSpPr>
        <p:spPr>
          <a:xfrm>
            <a:off x="3719736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rgbClr val="0C49B7"/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2636ED38-FA38-4595-BA88-F62DA9746ACA}"/>
              </a:ext>
            </a:extLst>
          </p:cNvPr>
          <p:cNvSpPr txBox="1"/>
          <p:nvPr/>
        </p:nvSpPr>
        <p:spPr>
          <a:xfrm>
            <a:off x="5250253" y="2386575"/>
            <a:ext cx="16914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prstClr val="white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06</a:t>
            </a:r>
            <a:endParaRPr lang="zh-CN" altLang="en-US" sz="8800" b="1" dirty="0">
              <a:solidFill>
                <a:prstClr val="white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974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03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版本控制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8" name="系统计划管理">
            <a:extLst>
              <a:ext uri="{FF2B5EF4-FFF2-40B4-BE49-F238E27FC236}">
                <a16:creationId xmlns:a16="http://schemas.microsoft.com/office/drawing/2014/main" id="{627D718F-D767-496C-B101-52AAAE38A40D}"/>
              </a:ext>
            </a:extLst>
          </p:cNvPr>
          <p:cNvSpPr/>
          <p:nvPr/>
        </p:nvSpPr>
        <p:spPr>
          <a:xfrm>
            <a:off x="5169204" y="1404369"/>
            <a:ext cx="1853592" cy="575175"/>
          </a:xfrm>
          <a:prstGeom prst="roundRect">
            <a:avLst>
              <a:gd name="adj" fmla="val 10000"/>
            </a:avLst>
          </a:prstGeom>
          <a:solidFill>
            <a:srgbClr val="0C49B7"/>
          </a:solidFill>
          <a:ln w="19050">
            <a:solidFill>
              <a:srgbClr val="0A3A91"/>
            </a:solidFill>
          </a:ln>
          <a:effectLst>
            <a:outerShdw blurRad="76200" dist="25400" dir="5400000" rotWithShape="0">
              <a:srgbClr val="0F2F60">
                <a:alpha val="18000"/>
              </a:srgbClr>
            </a:outerShdw>
          </a:effectLst>
        </p:spPr>
        <p:txBody>
          <a:bodyPr vert="horz" wrap="none" lIns="91440" tIns="25400" rIns="91440" bIns="25400" rtlCol="0" anchor="ctr"/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main</a:t>
            </a:r>
            <a:endParaRPr lang="zh-CN" sz="2400" b="1" dirty="0">
              <a:solidFill>
                <a:srgbClr val="FFFF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系统计划管理">
            <a:extLst>
              <a:ext uri="{FF2B5EF4-FFF2-40B4-BE49-F238E27FC236}">
                <a16:creationId xmlns:a16="http://schemas.microsoft.com/office/drawing/2014/main" id="{476F017C-E4CB-4142-B173-72537416743D}"/>
              </a:ext>
            </a:extLst>
          </p:cNvPr>
          <p:cNvSpPr/>
          <p:nvPr/>
        </p:nvSpPr>
        <p:spPr>
          <a:xfrm>
            <a:off x="5169204" y="3095907"/>
            <a:ext cx="1853592" cy="575175"/>
          </a:xfrm>
          <a:prstGeom prst="roundRect">
            <a:avLst>
              <a:gd name="adj" fmla="val 10000"/>
            </a:avLst>
          </a:prstGeom>
          <a:solidFill>
            <a:srgbClr val="0C49B7"/>
          </a:solidFill>
          <a:ln w="19050">
            <a:solidFill>
              <a:srgbClr val="0A3A91"/>
            </a:solidFill>
          </a:ln>
          <a:effectLst>
            <a:outerShdw blurRad="76200" dist="25400" dir="5400000" rotWithShape="0">
              <a:srgbClr val="0F2F60">
                <a:alpha val="18000"/>
              </a:srgbClr>
            </a:outerShdw>
          </a:effectLst>
        </p:spPr>
        <p:txBody>
          <a:bodyPr vert="horz" wrap="none" lIns="91440" tIns="25400" rIns="91440" bIns="25400" rtlCol="0" anchor="ctr"/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develop</a:t>
            </a:r>
            <a:endParaRPr lang="zh-CN" sz="2400" b="1" dirty="0">
              <a:solidFill>
                <a:srgbClr val="FFFF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系统计划管理">
            <a:extLst>
              <a:ext uri="{FF2B5EF4-FFF2-40B4-BE49-F238E27FC236}">
                <a16:creationId xmlns:a16="http://schemas.microsoft.com/office/drawing/2014/main" id="{0F8F899D-5486-4957-B7EF-5D0AD6F062CF}"/>
              </a:ext>
            </a:extLst>
          </p:cNvPr>
          <p:cNvSpPr/>
          <p:nvPr/>
        </p:nvSpPr>
        <p:spPr>
          <a:xfrm>
            <a:off x="229715" y="5045895"/>
            <a:ext cx="2237123" cy="575175"/>
          </a:xfrm>
          <a:prstGeom prst="roundRect">
            <a:avLst>
              <a:gd name="adj" fmla="val 10000"/>
            </a:avLst>
          </a:prstGeom>
          <a:solidFill>
            <a:srgbClr val="0C49B7"/>
          </a:solidFill>
          <a:ln w="19050">
            <a:solidFill>
              <a:srgbClr val="0A3A91"/>
            </a:solidFill>
          </a:ln>
          <a:effectLst>
            <a:outerShdw blurRad="76200" dist="25400" dir="5400000" rotWithShape="0">
              <a:srgbClr val="0F2F60">
                <a:alpha val="18000"/>
              </a:srgbClr>
            </a:outerShdw>
          </a:effectLst>
        </p:spPr>
        <p:txBody>
          <a:bodyPr vert="horz" wrap="none" lIns="91440" tIns="25400" rIns="91440" bIns="25400" rtlCol="0" anchor="ctr"/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feature/system</a:t>
            </a:r>
            <a:endParaRPr lang="zh-CN" sz="2400" b="1" dirty="0">
              <a:solidFill>
                <a:srgbClr val="FFFF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系统计划管理">
            <a:extLst>
              <a:ext uri="{FF2B5EF4-FFF2-40B4-BE49-F238E27FC236}">
                <a16:creationId xmlns:a16="http://schemas.microsoft.com/office/drawing/2014/main" id="{8E7B3D16-7E3D-4834-A088-E0A3FE956E05}"/>
              </a:ext>
            </a:extLst>
          </p:cNvPr>
          <p:cNvSpPr/>
          <p:nvPr/>
        </p:nvSpPr>
        <p:spPr>
          <a:xfrm>
            <a:off x="9689595" y="5045896"/>
            <a:ext cx="2237123" cy="575175"/>
          </a:xfrm>
          <a:prstGeom prst="roundRect">
            <a:avLst>
              <a:gd name="adj" fmla="val 10000"/>
            </a:avLst>
          </a:prstGeom>
          <a:solidFill>
            <a:srgbClr val="0C49B7"/>
          </a:solidFill>
          <a:ln w="19050">
            <a:solidFill>
              <a:srgbClr val="0A3A91"/>
            </a:solidFill>
          </a:ln>
          <a:effectLst>
            <a:outerShdw blurRad="76200" dist="25400" dir="5400000" rotWithShape="0">
              <a:srgbClr val="0F2F60">
                <a:alpha val="18000"/>
              </a:srgbClr>
            </a:outerShdw>
          </a:effectLst>
        </p:spPr>
        <p:txBody>
          <a:bodyPr vert="horz" wrap="none" lIns="91440" tIns="25400" rIns="91440" bIns="25400" rtlCol="0" anchor="ctr"/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feature/</a:t>
            </a:r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inventory</a:t>
            </a:r>
            <a:endParaRPr lang="zh-CN" sz="2000" b="1" dirty="0">
              <a:solidFill>
                <a:srgbClr val="FFFF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系统计划管理">
            <a:extLst>
              <a:ext uri="{FF2B5EF4-FFF2-40B4-BE49-F238E27FC236}">
                <a16:creationId xmlns:a16="http://schemas.microsoft.com/office/drawing/2014/main" id="{65DE420F-DF8D-47EC-9493-CBDA454F19A2}"/>
              </a:ext>
            </a:extLst>
          </p:cNvPr>
          <p:cNvSpPr/>
          <p:nvPr/>
        </p:nvSpPr>
        <p:spPr>
          <a:xfrm>
            <a:off x="7324625" y="5045896"/>
            <a:ext cx="2237123" cy="575175"/>
          </a:xfrm>
          <a:prstGeom prst="roundRect">
            <a:avLst>
              <a:gd name="adj" fmla="val 10000"/>
            </a:avLst>
          </a:prstGeom>
          <a:solidFill>
            <a:srgbClr val="0C49B7"/>
          </a:solidFill>
          <a:ln w="19050">
            <a:solidFill>
              <a:srgbClr val="0A3A91"/>
            </a:solidFill>
          </a:ln>
          <a:effectLst>
            <a:outerShdw blurRad="76200" dist="25400" dir="5400000" rotWithShape="0">
              <a:srgbClr val="0F2F60">
                <a:alpha val="18000"/>
              </a:srgbClr>
            </a:outerShdw>
          </a:effectLst>
        </p:spPr>
        <p:txBody>
          <a:bodyPr vert="horz" wrap="none" lIns="91440" tIns="25400" rIns="91440" bIns="25400" rtlCol="0" anchor="ctr"/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feature/procurement</a:t>
            </a:r>
            <a:endParaRPr lang="zh-CN" b="1" dirty="0">
              <a:solidFill>
                <a:srgbClr val="FFFF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系统计划管理">
            <a:extLst>
              <a:ext uri="{FF2B5EF4-FFF2-40B4-BE49-F238E27FC236}">
                <a16:creationId xmlns:a16="http://schemas.microsoft.com/office/drawing/2014/main" id="{94927C00-07D4-477D-A85F-225E4329DB4C}"/>
              </a:ext>
            </a:extLst>
          </p:cNvPr>
          <p:cNvSpPr/>
          <p:nvPr/>
        </p:nvSpPr>
        <p:spPr>
          <a:xfrm>
            <a:off x="2594685" y="5045896"/>
            <a:ext cx="2237123" cy="575175"/>
          </a:xfrm>
          <a:prstGeom prst="roundRect">
            <a:avLst>
              <a:gd name="adj" fmla="val 10000"/>
            </a:avLst>
          </a:prstGeom>
          <a:solidFill>
            <a:srgbClr val="0C49B7"/>
          </a:solidFill>
          <a:ln w="19050">
            <a:solidFill>
              <a:srgbClr val="0A3A91"/>
            </a:solidFill>
          </a:ln>
          <a:effectLst>
            <a:outerShdw blurRad="76200" dist="25400" dir="5400000" rotWithShape="0">
              <a:srgbClr val="0F2F60">
                <a:alpha val="18000"/>
              </a:srgbClr>
            </a:outerShdw>
          </a:effectLst>
        </p:spPr>
        <p:txBody>
          <a:bodyPr vert="horz" wrap="none" lIns="91440" tIns="25400" rIns="91440" bIns="25400" rtlCol="0" anchor="ctr"/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feature/sales</a:t>
            </a:r>
            <a:endParaRPr lang="zh-CN" sz="2400" b="1" dirty="0">
              <a:solidFill>
                <a:srgbClr val="FFFF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系统计划管理">
            <a:extLst>
              <a:ext uri="{FF2B5EF4-FFF2-40B4-BE49-F238E27FC236}">
                <a16:creationId xmlns:a16="http://schemas.microsoft.com/office/drawing/2014/main" id="{79EDB9EF-19D6-45D0-A29B-D3F0A6CFA6BD}"/>
              </a:ext>
            </a:extLst>
          </p:cNvPr>
          <p:cNvSpPr/>
          <p:nvPr/>
        </p:nvSpPr>
        <p:spPr>
          <a:xfrm>
            <a:off x="4959655" y="5045896"/>
            <a:ext cx="2237123" cy="575175"/>
          </a:xfrm>
          <a:prstGeom prst="roundRect">
            <a:avLst>
              <a:gd name="adj" fmla="val 10000"/>
            </a:avLst>
          </a:prstGeom>
          <a:solidFill>
            <a:srgbClr val="0C49B7"/>
          </a:solidFill>
          <a:ln w="19050">
            <a:solidFill>
              <a:srgbClr val="0A3A91"/>
            </a:solidFill>
          </a:ln>
          <a:effectLst>
            <a:outerShdw blurRad="76200" dist="25400" dir="5400000" rotWithShape="0">
              <a:srgbClr val="0F2F60">
                <a:alpha val="18000"/>
              </a:srgbClr>
            </a:outerShdw>
          </a:effectLst>
        </p:spPr>
        <p:txBody>
          <a:bodyPr vert="horz" wrap="none" lIns="91440" tIns="25400" rIns="91440" bIns="25400" rtlCol="0" anchor="ctr"/>
          <a:lstStyle/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feature/planning</a:t>
            </a:r>
            <a:endParaRPr lang="zh-CN" sz="2000" b="1" dirty="0">
              <a:solidFill>
                <a:srgbClr val="FFFF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57AB93-0528-46D3-B30E-E1F393C74E5A}"/>
              </a:ext>
            </a:extLst>
          </p:cNvPr>
          <p:cNvSpPr/>
          <p:nvPr/>
        </p:nvSpPr>
        <p:spPr>
          <a:xfrm>
            <a:off x="7324625" y="1472641"/>
            <a:ext cx="3323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稳定/演示版本，禁止直接提交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B917AC64-1ABE-419A-BDE1-1EC3BC2E4698}"/>
              </a:ext>
            </a:extLst>
          </p:cNvPr>
          <p:cNvSpPr/>
          <p:nvPr/>
        </p:nvSpPr>
        <p:spPr>
          <a:xfrm rot="16200000">
            <a:off x="5627137" y="2017463"/>
            <a:ext cx="937727" cy="1008668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58649640-354A-4732-9503-08362E17F19D}"/>
              </a:ext>
            </a:extLst>
          </p:cNvPr>
          <p:cNvSpPr/>
          <p:nvPr/>
        </p:nvSpPr>
        <p:spPr>
          <a:xfrm rot="16200000">
            <a:off x="5609353" y="3841241"/>
            <a:ext cx="937727" cy="1008668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DA3004-5A2E-47C2-848C-ACF7CCA42392}"/>
              </a:ext>
            </a:extLst>
          </p:cNvPr>
          <p:cNvSpPr/>
          <p:nvPr/>
        </p:nvSpPr>
        <p:spPr>
          <a:xfrm>
            <a:off x="6685274" y="2379595"/>
            <a:ext cx="3264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PR（五模块集成测试通过后）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F399C36-1590-419B-84CC-717DE8B6FD74}"/>
              </a:ext>
            </a:extLst>
          </p:cNvPr>
          <p:cNvSpPr/>
          <p:nvPr/>
        </p:nvSpPr>
        <p:spPr>
          <a:xfrm>
            <a:off x="7324625" y="321440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日常集成分支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1A8CAF9-2FF0-4E78-975D-33B9E7FA2ED2}"/>
              </a:ext>
            </a:extLst>
          </p:cNvPr>
          <p:cNvSpPr/>
          <p:nvPr/>
        </p:nvSpPr>
        <p:spPr>
          <a:xfrm>
            <a:off x="6685274" y="4276513"/>
            <a:ext cx="494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PR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20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4036D83-1C97-4B08-AE3C-7AEDA923BB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9215" y="1678797"/>
            <a:ext cx="7124626" cy="7124626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7014BE1E-9895-46A3-A269-4F2EC9A44D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01" b="12078"/>
          <a:stretch/>
        </p:blipFill>
        <p:spPr bwMode="auto">
          <a:xfrm>
            <a:off x="0" y="2106219"/>
            <a:ext cx="12214205" cy="302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94115BE-34ED-407E-929E-7206110F62ED}"/>
              </a:ext>
            </a:extLst>
          </p:cNvPr>
          <p:cNvSpPr/>
          <p:nvPr/>
        </p:nvSpPr>
        <p:spPr>
          <a:xfrm>
            <a:off x="0" y="2107257"/>
            <a:ext cx="12215445" cy="3023423"/>
          </a:xfrm>
          <a:prstGeom prst="rect">
            <a:avLst/>
          </a:prstGeom>
          <a:solidFill>
            <a:srgbClr val="0C49B7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F0502020204030204"/>
              <a:ea typeface="微软雅黑"/>
              <a:cs typeface="+mn-ea"/>
              <a:sym typeface="+mn-lt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7DF0BF8-018C-4FDD-A3BA-D79B2F32A3B7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0" y="5522445"/>
            <a:ext cx="5022908" cy="7132"/>
          </a:xfrm>
          <a:prstGeom prst="line">
            <a:avLst/>
          </a:prstGeom>
          <a:noFill/>
          <a:ln w="38100" cap="flat" cmpd="sng" algn="ctr">
            <a:solidFill>
              <a:srgbClr val="0C49B7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C0357B2-C74F-4527-8CC3-ABD1C43FEBF6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169092" y="5522445"/>
            <a:ext cx="5045113" cy="7132"/>
          </a:xfrm>
          <a:prstGeom prst="line">
            <a:avLst/>
          </a:prstGeom>
          <a:noFill/>
          <a:ln w="38100" cap="flat" cmpd="sng" algn="ctr">
            <a:solidFill>
              <a:srgbClr val="0C49B7"/>
            </a:solidFill>
            <a:prstDash val="solid"/>
            <a:miter lim="800000"/>
          </a:ln>
          <a:effectLst/>
        </p:spPr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47CB63C7-A0A1-43D6-BC88-C8F3884ED1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36563" y="5353168"/>
            <a:ext cx="2118874" cy="338553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B430D64-60EA-4ED4-B546-E07D34F40436}"/>
              </a:ext>
            </a:extLst>
          </p:cNvPr>
          <p:cNvGrpSpPr/>
          <p:nvPr/>
        </p:nvGrpSpPr>
        <p:grpSpPr>
          <a:xfrm>
            <a:off x="3968198" y="808968"/>
            <a:ext cx="4255603" cy="1068170"/>
            <a:chOff x="985945" y="526951"/>
            <a:chExt cx="4255603" cy="106817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E40649E3-E3A9-4AF2-9615-CBEFFDF57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5945" y="526951"/>
              <a:ext cx="1068170" cy="106817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4D9A361-FF78-4F4A-8727-B20731A61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50235" y="642953"/>
              <a:ext cx="3191313" cy="522925"/>
            </a:xfrm>
            <a:prstGeom prst="rect">
              <a:avLst/>
            </a:prstGeom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B574254-B8AE-4285-9800-E0F8630A3AD1}"/>
                </a:ext>
              </a:extLst>
            </p:cNvPr>
            <p:cNvSpPr/>
            <p:nvPr/>
          </p:nvSpPr>
          <p:spPr>
            <a:xfrm>
              <a:off x="2164265" y="1124660"/>
              <a:ext cx="307728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  <p:sp>
        <p:nvSpPr>
          <p:cNvPr id="21" name="Rectangle 10">
            <a:extLst>
              <a:ext uri="{FF2B5EF4-FFF2-40B4-BE49-F238E27FC236}">
                <a16:creationId xmlns:a16="http://schemas.microsoft.com/office/drawing/2014/main" id="{178B4715-213C-4130-B388-F2AED9BB4EC4}"/>
              </a:ext>
            </a:extLst>
          </p:cNvPr>
          <p:cNvSpPr/>
          <p:nvPr/>
        </p:nvSpPr>
        <p:spPr>
          <a:xfrm>
            <a:off x="472916" y="4248086"/>
            <a:ext cx="110172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BEIHANG UNIVERSITY </a:t>
            </a:r>
            <a:r>
              <a:rPr lang="zh-CN" altLang="en-US" sz="2000" b="1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GRADUATION REPLY GENERAL TEMPLATE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13874866-8ECB-4DB7-A378-438311BD9B22}"/>
              </a:ext>
            </a:extLst>
          </p:cNvPr>
          <p:cNvSpPr/>
          <p:nvPr/>
        </p:nvSpPr>
        <p:spPr>
          <a:xfrm>
            <a:off x="-24684" y="2795748"/>
            <a:ext cx="122388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7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 感谢观看 期待您的指点</a:t>
            </a:r>
            <a:r>
              <a:rPr lang="zh-CN" altLang="en-US" sz="7200" b="1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！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5EC7289-EDAC-475D-9EE4-D5E3AB633F0A}"/>
              </a:ext>
            </a:extLst>
          </p:cNvPr>
          <p:cNvGrpSpPr/>
          <p:nvPr/>
        </p:nvGrpSpPr>
        <p:grpSpPr>
          <a:xfrm>
            <a:off x="2388937" y="6230473"/>
            <a:ext cx="7205735" cy="338554"/>
            <a:chOff x="415917" y="6056049"/>
            <a:chExt cx="7205735" cy="338554"/>
          </a:xfrm>
        </p:grpSpPr>
        <p:sp>
          <p:nvSpPr>
            <p:cNvPr id="24" name="TextBox 14">
              <a:extLst>
                <a:ext uri="{FF2B5EF4-FFF2-40B4-BE49-F238E27FC236}">
                  <a16:creationId xmlns:a16="http://schemas.microsoft.com/office/drawing/2014/main" id="{D6E469E3-7F38-4756-842A-13BAAC787229}"/>
                </a:ext>
              </a:extLst>
            </p:cNvPr>
            <p:cNvSpPr txBox="1"/>
            <p:nvPr/>
          </p:nvSpPr>
          <p:spPr>
            <a:xfrm>
              <a:off x="415917" y="6056049"/>
              <a:ext cx="2031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0C49B7"/>
                  </a:solidFill>
                  <a:latin typeface="Arial" panose="020F0502020204030204"/>
                  <a:ea typeface="微软雅黑"/>
                  <a:cs typeface="+mn-ea"/>
                </a:rPr>
                <a:t>答辩人：星空情报站</a:t>
              </a:r>
            </a:p>
          </p:txBody>
        </p:sp>
        <p:sp>
          <p:nvSpPr>
            <p:cNvPr id="25" name="TextBox 28">
              <a:extLst>
                <a:ext uri="{FF2B5EF4-FFF2-40B4-BE49-F238E27FC236}">
                  <a16:creationId xmlns:a16="http://schemas.microsoft.com/office/drawing/2014/main" id="{BCD24276-E34F-4EB7-A713-C5111E8FD518}"/>
                </a:ext>
              </a:extLst>
            </p:cNvPr>
            <p:cNvSpPr txBox="1"/>
            <p:nvPr/>
          </p:nvSpPr>
          <p:spPr>
            <a:xfrm>
              <a:off x="2741384" y="6056049"/>
              <a:ext cx="22942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0C49B7"/>
                  </a:solidFill>
                  <a:latin typeface="Arial" panose="020F0502020204030204"/>
                  <a:ea typeface="微软雅黑"/>
                  <a:cs typeface="+mn-ea"/>
                </a:rPr>
                <a:t>指导老师：</a:t>
              </a:r>
              <a:r>
                <a:rPr lang="en-US" altLang="zh-CN" sz="1600" b="1" dirty="0">
                  <a:solidFill>
                    <a:srgbClr val="0C49B7"/>
                  </a:solidFill>
                  <a:latin typeface="Arial" panose="020F0502020204030204"/>
                  <a:ea typeface="微软雅黑"/>
                  <a:cs typeface="+mn-ea"/>
                </a:rPr>
                <a:t> </a:t>
              </a:r>
              <a:r>
                <a:rPr lang="zh-CN" altLang="en-US" sz="1600" b="1" dirty="0">
                  <a:solidFill>
                    <a:srgbClr val="0C49B7"/>
                  </a:solidFill>
                  <a:latin typeface="Arial" panose="020F0502020204030204"/>
                  <a:ea typeface="微软雅黑"/>
                  <a:cs typeface="+mn-ea"/>
                </a:rPr>
                <a:t>微信公众号</a:t>
              </a:r>
            </a:p>
          </p:txBody>
        </p:sp>
        <p:sp>
          <p:nvSpPr>
            <p:cNvPr id="26" name="TextBox 90">
              <a:extLst>
                <a:ext uri="{FF2B5EF4-FFF2-40B4-BE49-F238E27FC236}">
                  <a16:creationId xmlns:a16="http://schemas.microsoft.com/office/drawing/2014/main" id="{5B872297-A36B-4F0B-9A29-EF9E291912A0}"/>
                </a:ext>
              </a:extLst>
            </p:cNvPr>
            <p:cNvSpPr txBox="1"/>
            <p:nvPr/>
          </p:nvSpPr>
          <p:spPr>
            <a:xfrm>
              <a:off x="5295374" y="6056049"/>
              <a:ext cx="23262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0C49B7"/>
                  </a:solidFill>
                  <a:latin typeface="Arial" panose="020F0502020204030204"/>
                  <a:ea typeface="微软雅黑"/>
                  <a:cs typeface="+mn-ea"/>
                </a:rPr>
                <a:t>日期：</a:t>
              </a:r>
              <a:r>
                <a:rPr lang="en-US" altLang="zh-CN" sz="1600" b="1" dirty="0">
                  <a:solidFill>
                    <a:srgbClr val="0C49B7"/>
                  </a:solidFill>
                  <a:latin typeface="Arial" panose="020F0502020204030204"/>
                  <a:ea typeface="微软雅黑"/>
                  <a:cs typeface="+mn-ea"/>
                </a:rPr>
                <a:t>2023</a:t>
              </a:r>
              <a:r>
                <a:rPr lang="zh-CN" altLang="en-US" sz="1600" b="1" dirty="0">
                  <a:solidFill>
                    <a:srgbClr val="0C49B7"/>
                  </a:solidFill>
                  <a:latin typeface="Arial" panose="020F0502020204030204"/>
                  <a:ea typeface="微软雅黑"/>
                  <a:cs typeface="+mn-ea"/>
                </a:rPr>
                <a:t>年</a:t>
              </a:r>
              <a:r>
                <a:rPr lang="en-US" altLang="zh-CN" sz="1600" b="1" dirty="0">
                  <a:solidFill>
                    <a:srgbClr val="0C49B7"/>
                  </a:solidFill>
                  <a:latin typeface="Arial" panose="020F0502020204030204"/>
                  <a:ea typeface="微软雅黑"/>
                  <a:cs typeface="+mn-ea"/>
                </a:rPr>
                <a:t>09</a:t>
              </a:r>
              <a:r>
                <a:rPr lang="zh-CN" altLang="en-US" sz="1600" b="1" dirty="0">
                  <a:solidFill>
                    <a:srgbClr val="0C49B7"/>
                  </a:solidFill>
                  <a:latin typeface="Arial" panose="020F0502020204030204"/>
                  <a:ea typeface="微软雅黑"/>
                  <a:cs typeface="+mn-ea"/>
                </a:rPr>
                <a:t>月</a:t>
              </a:r>
              <a:r>
                <a:rPr lang="en-US" altLang="zh-CN" sz="1600" b="1" dirty="0">
                  <a:solidFill>
                    <a:srgbClr val="0C49B7"/>
                  </a:solidFill>
                  <a:latin typeface="Arial" panose="020F0502020204030204"/>
                  <a:ea typeface="微软雅黑"/>
                  <a:cs typeface="+mn-ea"/>
                </a:rPr>
                <a:t>30</a:t>
              </a:r>
              <a:r>
                <a:rPr lang="zh-CN" altLang="en-US" sz="1600" b="1" dirty="0">
                  <a:solidFill>
                    <a:srgbClr val="0C49B7"/>
                  </a:solidFill>
                  <a:latin typeface="Arial" panose="020F0502020204030204"/>
                  <a:ea typeface="微软雅黑"/>
                  <a:cs typeface="+mn-ea"/>
                </a:rPr>
                <a:t>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538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0" name="图片 49">
            <a:extLst>
              <a:ext uri="{FF2B5EF4-FFF2-40B4-BE49-F238E27FC236}">
                <a16:creationId xmlns:a16="http://schemas.microsoft.com/office/drawing/2014/main" id="{0AC69A9E-43BF-4C01-B20F-E6263A637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9694" y="2040931"/>
            <a:ext cx="4874641" cy="4874641"/>
          </a:xfrm>
          <a:prstGeom prst="rect">
            <a:avLst/>
          </a:prstGeom>
        </p:spPr>
      </p:pic>
      <p:pic>
        <p:nvPicPr>
          <p:cNvPr id="51" name="图片占位符 10">
            <a:extLst>
              <a:ext uri="{FF2B5EF4-FFF2-40B4-BE49-F238E27FC236}">
                <a16:creationId xmlns:a16="http://schemas.microsoft.com/office/drawing/2014/main" id="{4A45EEC4-57B3-48D1-9228-0686F8DEE0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3068960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76405797-37B5-4B4F-821C-7687F80FDFC8}"/>
              </a:ext>
            </a:extLst>
          </p:cNvPr>
          <p:cNvSpPr/>
          <p:nvPr/>
        </p:nvSpPr>
        <p:spPr>
          <a:xfrm>
            <a:off x="0" y="0"/>
            <a:ext cx="12191998" cy="3068960"/>
          </a:xfrm>
          <a:prstGeom prst="rect">
            <a:avLst/>
          </a:prstGeom>
          <a:solidFill>
            <a:srgbClr val="0C49B7">
              <a:alpha val="8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sp>
        <p:nvSpPr>
          <p:cNvPr id="53" name="文本占位符 8">
            <a:extLst>
              <a:ext uri="{FF2B5EF4-FFF2-40B4-BE49-F238E27FC236}">
                <a16:creationId xmlns:a16="http://schemas.microsoft.com/office/drawing/2014/main" id="{0EB26F33-B629-4284-8E8E-692509EC5E59}"/>
              </a:ext>
            </a:extLst>
          </p:cNvPr>
          <p:cNvSpPr txBox="1">
            <a:spLocks/>
          </p:cNvSpPr>
          <p:nvPr/>
        </p:nvSpPr>
        <p:spPr>
          <a:xfrm>
            <a:off x="4815507" y="1844824"/>
            <a:ext cx="2560983" cy="2530053"/>
          </a:xfrm>
          <a:custGeom>
            <a:avLst/>
            <a:gdLst>
              <a:gd name="connsiteX0" fmla="*/ 2057400 w 4114800"/>
              <a:gd name="connsiteY0" fmla="*/ 0 h 4065104"/>
              <a:gd name="connsiteX1" fmla="*/ 4114800 w 4114800"/>
              <a:gd name="connsiteY1" fmla="*/ 2032552 h 4065104"/>
              <a:gd name="connsiteX2" fmla="*/ 2057400 w 4114800"/>
              <a:gd name="connsiteY2" fmla="*/ 4065104 h 4065104"/>
              <a:gd name="connsiteX3" fmla="*/ 0 w 4114800"/>
              <a:gd name="connsiteY3" fmla="*/ 2032552 h 406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065104">
                <a:moveTo>
                  <a:pt x="2057400" y="0"/>
                </a:moveTo>
                <a:lnTo>
                  <a:pt x="4114800" y="2032552"/>
                </a:lnTo>
                <a:lnTo>
                  <a:pt x="2057400" y="4065104"/>
                </a:lnTo>
                <a:lnTo>
                  <a:pt x="0" y="2032552"/>
                </a:lnTo>
                <a:close/>
              </a:path>
            </a:pathLst>
          </a:custGeom>
          <a:solidFill>
            <a:srgbClr val="0C49B7"/>
          </a:solidFill>
          <a:ln w="193675">
            <a:solidFill>
              <a:srgbClr val="FFFFFF"/>
            </a:solidFill>
          </a:ln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600" kern="1200">
                <a:solidFill>
                  <a:schemeClr val="bg1"/>
                </a:solidFill>
                <a:effectLst>
                  <a:innerShdw dist="63500" dir="16200000">
                    <a:schemeClr val="accent3"/>
                  </a:innerShdw>
                </a:effectLst>
                <a:latin typeface="Impact" panose="020B080603090205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FFFFFF"/>
              </a:solidFill>
              <a:effectLst>
                <a:innerShdw dist="63500" dir="16200000">
                  <a:srgbClr val="3889F5"/>
                </a:innerShdw>
              </a:effectLst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2DF1559D-8548-4E0E-BF5B-8BFFA2E26E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755" y="6406826"/>
            <a:ext cx="2095523" cy="334822"/>
          </a:xfrm>
          <a:prstGeom prst="rect">
            <a:avLst/>
          </a:prstGeom>
        </p:spPr>
      </p:pic>
      <p:sp>
        <p:nvSpPr>
          <p:cNvPr id="55" name="标题 4">
            <a:extLst>
              <a:ext uri="{FF2B5EF4-FFF2-40B4-BE49-F238E27FC236}">
                <a16:creationId xmlns:a16="http://schemas.microsoft.com/office/drawing/2014/main" id="{E7D8CBE5-FE9F-418C-936F-F0EA8209FD6F}"/>
              </a:ext>
            </a:extLst>
          </p:cNvPr>
          <p:cNvSpPr txBox="1">
            <a:spLocks/>
          </p:cNvSpPr>
          <p:nvPr/>
        </p:nvSpPr>
        <p:spPr>
          <a:xfrm>
            <a:off x="3431702" y="4358360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solidFill>
                  <a:srgbClr val="0C49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库存管理模块</a:t>
            </a: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F28A7BC2-F7B5-4629-BACA-BDE4C609FC28}"/>
              </a:ext>
            </a:extLst>
          </p:cNvPr>
          <p:cNvCxnSpPr>
            <a:cxnSpLocks/>
          </p:cNvCxnSpPr>
          <p:nvPr/>
        </p:nvCxnSpPr>
        <p:spPr>
          <a:xfrm>
            <a:off x="3719736" y="5244190"/>
            <a:ext cx="4752528" cy="0"/>
          </a:xfrm>
          <a:prstGeom prst="line">
            <a:avLst/>
          </a:prstGeom>
          <a:noFill/>
          <a:ln w="28575" cap="flat" cmpd="sng" algn="ctr">
            <a:solidFill>
              <a:srgbClr val="0C49B7"/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2636ED38-FA38-4595-BA88-F62DA9746ACA}"/>
              </a:ext>
            </a:extLst>
          </p:cNvPr>
          <p:cNvSpPr txBox="1"/>
          <p:nvPr/>
        </p:nvSpPr>
        <p:spPr>
          <a:xfrm>
            <a:off x="5250253" y="2386575"/>
            <a:ext cx="16914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prstClr val="white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05</a:t>
            </a:r>
            <a:endParaRPr lang="zh-CN" altLang="en-US" sz="8800" b="1" dirty="0">
              <a:solidFill>
                <a:prstClr val="white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05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库存业务 ER 图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43" name="Picture 42" descr="er_class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12" y="1005840"/>
            <a:ext cx="1083941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05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993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物理表结构设计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F894F43A-7508-441B-B4C6-112488DDF582}"/>
              </a:ext>
            </a:extLst>
          </p:cNvPr>
          <p:cNvSpPr/>
          <p:nvPr/>
        </p:nvSpPr>
        <p:spPr>
          <a:xfrm>
            <a:off x="6967728" y="1755648"/>
            <a:ext cx="4224528" cy="4526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【基础数据】inv_warehouse 仓库（含库位）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【核心台账】inv_balance 结存（含订货点）、inv_transaction 流水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【补货链路】inv_replenishment_request 补库需求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【库存作业】inv_stock_operation 移库+盘点（op_type 区分）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【跨模块外键】sys_material / sys_personnel / sys_organization</a:t>
            </a:r>
          </a:p>
          <a:p>
            <a:pPr>
              <a:lnSpc>
                <a:spcPct val="125000"/>
              </a:lnSpc>
            </a:pPr>
            <a:r>
              <a:rPr lang="en-US" altLang="zh-CN" dirty="0" sz="1400" b="1">
                <a:latin typeface="华文中宋" panose="02010600040101010101" pitchFamily="2" charset="-122"/>
                <a:ea typeface="华文中宋" panose="02010600040101010101" pitchFamily="2" charset="-122"/>
              </a:rPr>
              <a:t>外键删除按 RESTRICT 保护主数据；5 张表覆盖库存全业务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A714DD-FF74-4ABF-9D32-325769AEED95}"/>
              </a:ext>
            </a:extLst>
          </p:cNvPr>
          <p:cNvSpPr/>
          <p:nvPr/>
        </p:nvSpPr>
        <p:spPr>
          <a:xfrm>
            <a:off x="6967728" y="1188720"/>
            <a:ext cx="3621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00" b="1" dirty="0" err="1">
                <a:solidFill>
                  <a:srgbClr val="0C49B7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物理表总览（5 张表 · 4 个业务域）</a:t>
            </a:r>
          </a:p>
        </p:txBody>
      </p:sp>
      <p:pic>
        <p:nvPicPr>
          <p:cNvPr id="43" name="Picture 42" descr="physical_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1329111"/>
            <a:ext cx="6327648" cy="463868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05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993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物理表结构设计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F894F43A-7508-441B-B4C6-112488DDF582}"/>
              </a:ext>
            </a:extLst>
          </p:cNvPr>
          <p:cNvSpPr/>
          <p:nvPr/>
        </p:nvSpPr>
        <p:spPr>
          <a:xfrm>
            <a:off x="6967728" y="1755648"/>
            <a:ext cx="4224528" cy="4526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id：主键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warehouse_code：仓库编码，唯一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warehouse_name：仓库名称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location_code / location_name：库位编码、名称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org_id：外键，所属组织（sys_organization）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manager_id：外键，负责人（sys_personnel）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status：ACTIVE / INACTIVE</a:t>
            </a:r>
          </a:p>
          <a:p>
            <a:pPr>
              <a:lnSpc>
                <a:spcPct val="125000"/>
              </a:lnSpc>
            </a:pPr>
            <a:r>
              <a:rPr lang="en-US" altLang="zh-CN" dirty="0" sz="1400" b="1">
                <a:latin typeface="华文中宋" panose="02010600040101010101" pitchFamily="2" charset="-122"/>
                <a:ea typeface="华文中宋" panose="02010600040101010101" pitchFamily="2" charset="-122"/>
              </a:rPr>
              <a:t>库位并入仓库表，简化层级；仓库被结存、流水引用，删除受 RESTRICT 保护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A714DD-FF74-4ABF-9D32-325769AEED95}"/>
              </a:ext>
            </a:extLst>
          </p:cNvPr>
          <p:cNvSpPr/>
          <p:nvPr/>
        </p:nvSpPr>
        <p:spPr>
          <a:xfrm>
            <a:off x="6967728" y="1188720"/>
            <a:ext cx="3621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00" b="1" dirty="0" err="1">
                <a:solidFill>
                  <a:srgbClr val="0C49B7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inv_warehouse：仓库表（含库位）</a:t>
            </a:r>
          </a:p>
        </p:txBody>
      </p:sp>
      <p:pic>
        <p:nvPicPr>
          <p:cNvPr id="43" name="Picture 42" descr="physical_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1329111"/>
            <a:ext cx="6327648" cy="463868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05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993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物理表结构设计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F894F43A-7508-441B-B4C6-112488DDF582}"/>
              </a:ext>
            </a:extLst>
          </p:cNvPr>
          <p:cNvSpPr/>
          <p:nvPr/>
        </p:nvSpPr>
        <p:spPr>
          <a:xfrm>
            <a:off x="6967728" y="1755648"/>
            <a:ext cx="4224528" cy="4526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id：主键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warehouse_id：外键，仓库；material_id：外键，物料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quantity：现存数量，CHECK ≥ 0（禁止负库存）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locked_quantity：锁定量（已分配未出库），≥ 0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reorder_point：订货点；reorder_quantity：建议订货量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updated_at_txn：最近一次变动时间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唯一约束（仓库，物料）</a:t>
            </a:r>
          </a:p>
          <a:p>
            <a:pPr>
              <a:lnSpc>
                <a:spcPct val="125000"/>
              </a:lnSpc>
            </a:pPr>
            <a:r>
              <a:rPr lang="en-US" altLang="zh-CN" dirty="0" sz="1400" b="1">
                <a:latin typeface="华文中宋" panose="02010600040101010101" pitchFamily="2" charset="-122"/>
                <a:ea typeface="华文中宋" panose="02010600040101010101" pitchFamily="2" charset="-122"/>
              </a:rPr>
              <a:t>可用量 = 现存 − 锁定；结存只能由流水驱动变更；低于订货点触发补库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A714DD-FF74-4ABF-9D32-325769AEED95}"/>
              </a:ext>
            </a:extLst>
          </p:cNvPr>
          <p:cNvSpPr/>
          <p:nvPr/>
        </p:nvSpPr>
        <p:spPr>
          <a:xfrm>
            <a:off x="6967728" y="1188720"/>
            <a:ext cx="3621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00" b="1" dirty="0" err="1">
                <a:solidFill>
                  <a:srgbClr val="0C49B7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inv_balance：库存结存表（含订货点）</a:t>
            </a:r>
          </a:p>
        </p:txBody>
      </p:sp>
      <p:pic>
        <p:nvPicPr>
          <p:cNvPr id="43" name="Picture 42" descr="physical_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1329111"/>
            <a:ext cx="6327648" cy="46386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05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993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物理表结构设计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F894F43A-7508-441B-B4C6-112488DDF582}"/>
              </a:ext>
            </a:extLst>
          </p:cNvPr>
          <p:cNvSpPr/>
          <p:nvPr/>
        </p:nvSpPr>
        <p:spPr>
          <a:xfrm>
            <a:off x="6967728" y="1755648"/>
            <a:ext cx="4224528" cy="4526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id：主键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transaction_no：流水单号，唯一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transaction_type：IN / OUT / 移库入 / 移库出 / ADJUST 五类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material_id、warehouse_id：物料与仓库外键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quantity_change：变动数量，入库为正、出库为负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quantity_after：变动后结存；unit_cost：单位成本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biz_date：业务日期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source_module/type/reference_id/source_no：来源四要素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operator_id、remark：操作人与备注</a:t>
            </a:r>
          </a:p>
          <a:p>
            <a:pPr>
              <a:lnSpc>
                <a:spcPct val="125000"/>
              </a:lnSpc>
            </a:pPr>
            <a:r>
              <a:rPr lang="en-US" altLang="zh-CN" dirty="0" sz="1300" b="1">
                <a:latin typeface="华文中宋" panose="02010600040101010101" pitchFamily="2" charset="-122"/>
                <a:ea typeface="华文中宋" panose="02010600040101010101" pitchFamily="2" charset="-122"/>
              </a:rPr>
              <a:t>任何库存变动都必须留一条流水，凭来源四要素可追溯到原始单据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A714DD-FF74-4ABF-9D32-325769AEED95}"/>
              </a:ext>
            </a:extLst>
          </p:cNvPr>
          <p:cNvSpPr/>
          <p:nvPr/>
        </p:nvSpPr>
        <p:spPr>
          <a:xfrm>
            <a:off x="6967728" y="1188720"/>
            <a:ext cx="3621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00" b="1" dirty="0" err="1">
                <a:solidFill>
                  <a:srgbClr val="0C49B7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inv_transaction：库存流水表</a:t>
            </a:r>
          </a:p>
        </p:txBody>
      </p:sp>
      <p:pic>
        <p:nvPicPr>
          <p:cNvPr id="43" name="Picture 42" descr="physical_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1329111"/>
            <a:ext cx="6327648" cy="463868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05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993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物理表结构设计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F894F43A-7508-441B-B4C6-112488DDF582}"/>
              </a:ext>
            </a:extLst>
          </p:cNvPr>
          <p:cNvSpPr/>
          <p:nvPr/>
        </p:nvSpPr>
        <p:spPr>
          <a:xfrm>
            <a:off x="6967728" y="1755648"/>
            <a:ext cx="4224528" cy="4526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id：主键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request_no：补库需求单号，唯一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material_id、warehouse_id：物料、仓库外键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request_qty：补库数量（&gt; 0）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current_qty、target_qty：触发时库存与目标库存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required_date：需求日期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source_type：REORDER（订货点）/ PRODUCTION（生产）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status：草稿 / 已确认 / 已下达 / 完成 / 取消</a:t>
            </a:r>
          </a:p>
          <a:p>
            <a:pPr>
              <a:lnSpc>
                <a:spcPct val="125000"/>
              </a:lnSpc>
            </a:pPr>
            <a:r>
              <a:rPr lang="en-US" altLang="zh-CN" dirty="0" sz="1300">
                <a:latin typeface="华文中宋" panose="02010600040101010101" pitchFamily="2" charset="-122"/>
                <a:ea typeface="华文中宋" panose="02010600040101010101" pitchFamily="2" charset="-122"/>
              </a:rPr>
              <a:t>handled_module、handled_ref_id：受理模块与受理单据ID</a:t>
            </a:r>
          </a:p>
          <a:p>
            <a:pPr>
              <a:lnSpc>
                <a:spcPct val="125000"/>
              </a:lnSpc>
            </a:pPr>
            <a:r>
              <a:rPr lang="en-US" altLang="zh-CN" dirty="0" sz="1300" b="1">
                <a:latin typeface="华文中宋" panose="02010600040101010101" pitchFamily="2" charset="-122"/>
                <a:ea typeface="华文中宋" panose="02010600040101010101" pitchFamily="2" charset="-122"/>
              </a:rPr>
              <a:t>库存模块不直接建计划：采购类转 Procurement，生产类转 Planning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A714DD-FF74-4ABF-9D32-325769AEED95}"/>
              </a:ext>
            </a:extLst>
          </p:cNvPr>
          <p:cNvSpPr/>
          <p:nvPr/>
        </p:nvSpPr>
        <p:spPr>
          <a:xfrm>
            <a:off x="6967728" y="1188720"/>
            <a:ext cx="3621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900" b="1" dirty="0" err="1">
                <a:solidFill>
                  <a:srgbClr val="0C49B7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inv_replenishment_request：补库需求表</a:t>
            </a:r>
          </a:p>
        </p:txBody>
      </p:sp>
      <p:pic>
        <p:nvPicPr>
          <p:cNvPr id="43" name="Picture 42" descr="physical_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1329111"/>
            <a:ext cx="6327648" cy="463868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05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3993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物理表结构设计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F894F43A-7508-441B-B4C6-112488DDF582}"/>
              </a:ext>
            </a:extLst>
          </p:cNvPr>
          <p:cNvSpPr/>
          <p:nvPr/>
        </p:nvSpPr>
        <p:spPr>
          <a:xfrm>
            <a:off x="6967728" y="1755648"/>
            <a:ext cx="4224528" cy="4526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id：主键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op_no：作业单号，唯一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op_type：TRANSFER（移库）/ STOCKTAKE（盘点）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warehouse_id / to_warehouse_id：源、目标仓库外键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material_id：外键，物料；quantity：数量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book_qty / actual_qty / difference：账面、实盘、差异</a:t>
            </a:r>
          </a:p>
          <a:p>
            <a:pPr>
              <a:lnSpc>
                <a:spcPct val="125000"/>
              </a:lnSpc>
            </a:pPr>
            <a:r>
              <a:rPr lang="en-US" altLang="zh-CN" dirty="0" sz="1400">
                <a:latin typeface="华文中宋" panose="02010600040101010101" pitchFamily="2" charset="-122"/>
                <a:ea typeface="华文中宋" panose="02010600040101010101" pitchFamily="2" charset="-122"/>
              </a:rPr>
              <a:t>op_date：作业日期；status：草稿 / 已确认 / 已完成 / 已取消</a:t>
            </a:r>
          </a:p>
          <a:p>
            <a:pPr>
              <a:lnSpc>
                <a:spcPct val="125000"/>
              </a:lnSpc>
            </a:pPr>
            <a:r>
              <a:rPr lang="en-US" altLang="zh-CN" dirty="0" sz="1400" b="1">
                <a:latin typeface="华文中宋" panose="02010600040101010101" pitchFamily="2" charset="-122"/>
                <a:ea typeface="华文中宋" panose="02010600040101010101" pitchFamily="2" charset="-122"/>
              </a:rPr>
              <a:t>移库生成成对流水、库存总量不变；盘点按差异生成 ADJUST 调平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A714DD-FF74-4ABF-9D32-325769AEED95}"/>
              </a:ext>
            </a:extLst>
          </p:cNvPr>
          <p:cNvSpPr/>
          <p:nvPr/>
        </p:nvSpPr>
        <p:spPr>
          <a:xfrm>
            <a:off x="6967728" y="1188720"/>
            <a:ext cx="3621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700" b="1" dirty="0" err="1">
                <a:solidFill>
                  <a:srgbClr val="0C49B7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inv_stock_operation：库存作业单（移库+盘点）</a:t>
            </a:r>
          </a:p>
        </p:txBody>
      </p:sp>
      <p:pic>
        <p:nvPicPr>
          <p:cNvPr id="43" name="Picture 42" descr="physical_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1329111"/>
            <a:ext cx="6327648" cy="463868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05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界面设计 · 核心功能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74320" y="1097280"/>
            <a:ext cx="5532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C49B7"/>
                </a:solidFill>
                <a:latin typeface="华文中宋"/>
              </a:rPr>
              <a:t>实时库存查询：三量分列、多条件查询</a:t>
            </a:r>
          </a:p>
        </p:txBody>
      </p:sp>
      <p:pic>
        <p:nvPicPr>
          <p:cNvPr id="44" name="Picture 43" descr="inv_01_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196" y="1389888"/>
            <a:ext cx="4592367" cy="21945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989320" y="1097280"/>
            <a:ext cx="5532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C49B7"/>
                </a:solidFill>
                <a:latin typeface="华文中宋"/>
              </a:rPr>
              <a:t>库存预警：低于安全库存的物料与缺口</a:t>
            </a:r>
          </a:p>
        </p:txBody>
      </p:sp>
      <p:pic>
        <p:nvPicPr>
          <p:cNvPr id="46" name="Picture 45" descr="inv_01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9196" y="1389888"/>
            <a:ext cx="4592367" cy="219456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74320" y="3529584"/>
            <a:ext cx="5532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C49B7"/>
                </a:solidFill>
                <a:latin typeface="华文中宋"/>
              </a:rPr>
              <a:t>手工入库：表单录入，产生真实流水</a:t>
            </a:r>
          </a:p>
        </p:txBody>
      </p:sp>
      <p:pic>
        <p:nvPicPr>
          <p:cNvPr id="48" name="Picture 47" descr="inv_02_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4196" y="3822191"/>
            <a:ext cx="4592367" cy="219456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989320" y="3529584"/>
            <a:ext cx="5532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C49B7"/>
                </a:solidFill>
                <a:latin typeface="华文中宋"/>
              </a:rPr>
              <a:t>手工出库：库存不足拒绝（错误码 5001）</a:t>
            </a:r>
          </a:p>
        </p:txBody>
      </p:sp>
      <p:pic>
        <p:nvPicPr>
          <p:cNvPr id="50" name="Picture 49" descr="inv_03_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9196" y="3822191"/>
            <a:ext cx="4592367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1">
            <a:extLst>
              <a:ext uri="{FF2B5EF4-FFF2-40B4-BE49-F238E27FC236}">
                <a16:creationId xmlns:a16="http://schemas.microsoft.com/office/drawing/2014/main" id="{B585F5BC-0D6E-404E-A5B4-308421149BF3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F754ED-A75C-4B25-9FF7-CB0486DF7039}"/>
                </a:ext>
              </a:extLst>
            </p:cNvPr>
            <p:cNvGrpSpPr/>
            <p:nvPr/>
          </p:nvGrpSpPr>
          <p:grpSpPr>
            <a:xfrm>
              <a:off x="0" y="-1"/>
              <a:ext cx="12192000" cy="6858002"/>
              <a:chOff x="0" y="-1"/>
              <a:chExt cx="12192000" cy="685800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DB5A92-B221-4426-9177-8B68612E8D53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706266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9A6F977-15B9-49EE-82D2-AD7D3720996E}"/>
                  </a:ext>
                </a:extLst>
              </p:cNvPr>
              <p:cNvSpPr/>
              <p:nvPr/>
            </p:nvSpPr>
            <p:spPr>
              <a:xfrm>
                <a:off x="0" y="708047"/>
                <a:ext cx="12192000" cy="132378"/>
              </a:xfrm>
              <a:prstGeom prst="rect">
                <a:avLst/>
              </a:prstGeom>
              <a:solidFill>
                <a:srgbClr val="0C49B7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F2CC4A1-2DE9-4B49-AD2E-BAB7A3A4ACA2}"/>
                  </a:ext>
                </a:extLst>
              </p:cNvPr>
              <p:cNvSpPr/>
              <p:nvPr/>
            </p:nvSpPr>
            <p:spPr>
              <a:xfrm>
                <a:off x="0" y="6453336"/>
                <a:ext cx="12192000" cy="404665"/>
              </a:xfrm>
              <a:prstGeom prst="rect">
                <a:avLst/>
              </a:prstGeom>
              <a:solidFill>
                <a:srgbClr val="0C49B7"/>
              </a:solidFill>
              <a:ln w="12700" cap="flat" cmpd="sng" algn="ctr">
                <a:solidFill>
                  <a:srgbClr val="4F81B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3CF80E-2AA7-48AE-A333-D190ED5B1E97}"/>
                </a:ext>
              </a:extLst>
            </p:cNvPr>
            <p:cNvSpPr txBox="1"/>
            <p:nvPr/>
          </p:nvSpPr>
          <p:spPr>
            <a:xfrm>
              <a:off x="175107" y="11685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05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" name="直线连接符 26">
              <a:extLst>
                <a:ext uri="{FF2B5EF4-FFF2-40B4-BE49-F238E27FC236}">
                  <a16:creationId xmlns:a16="http://schemas.microsoft.com/office/drawing/2014/main" id="{88311795-5472-4B7D-9FCF-939BE8BE9789}"/>
                </a:ext>
              </a:extLst>
            </p:cNvPr>
            <p:cNvCxnSpPr/>
            <p:nvPr/>
          </p:nvCxnSpPr>
          <p:spPr>
            <a:xfrm>
              <a:off x="839416" y="124472"/>
              <a:ext cx="0" cy="41880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4BD7972-4346-4D13-8738-C2C3F79B2627}"/>
                </a:ext>
              </a:extLst>
            </p:cNvPr>
            <p:cNvSpPr txBox="1"/>
            <p:nvPr/>
          </p:nvSpPr>
          <p:spPr>
            <a:xfrm>
              <a:off x="1008331" y="124472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kumimoji="1" lang="zh-CN" altLang="en-US" sz="2400" b="1" kern="0" spc="300" dirty="0"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界面设计 · 业务作业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6F62FD-B59A-493B-8E5E-121DDDEEC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068" y="6486933"/>
              <a:ext cx="2222085" cy="355044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CCCDB27-228F-4DB4-AF59-3E7854C0BD09}"/>
              </a:ext>
            </a:extLst>
          </p:cNvPr>
          <p:cNvGrpSpPr/>
          <p:nvPr/>
        </p:nvGrpSpPr>
        <p:grpSpPr>
          <a:xfrm>
            <a:off x="9570847" y="58796"/>
            <a:ext cx="2506700" cy="574142"/>
            <a:chOff x="849660" y="486412"/>
            <a:chExt cx="5474659" cy="1253932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CF04C44-70CA-407E-9187-1CACF766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9660" y="486412"/>
              <a:ext cx="1253932" cy="1253932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2138BCF5-5AC4-43D6-909E-8B40A8563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47586" y="550301"/>
              <a:ext cx="4144264" cy="679074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8CA9194-6BBE-4C20-A6CA-2BD07385F28F}"/>
                </a:ext>
              </a:extLst>
            </p:cNvPr>
            <p:cNvSpPr/>
            <p:nvPr/>
          </p:nvSpPr>
          <p:spPr>
            <a:xfrm>
              <a:off x="2103592" y="1179451"/>
              <a:ext cx="4220727" cy="504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9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BEIHANG UNIVERSITY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74320" y="1097280"/>
            <a:ext cx="5532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C49B7"/>
                </a:solidFill>
                <a:latin typeface="华文中宋"/>
              </a:rPr>
              <a:t>移库明细：源仓到目标仓、多行物料</a:t>
            </a:r>
          </a:p>
        </p:txBody>
      </p:sp>
      <p:pic>
        <p:nvPicPr>
          <p:cNvPr id="44" name="Picture 43" descr="inv_04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196" y="1389888"/>
            <a:ext cx="4592367" cy="21945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989320" y="1097280"/>
            <a:ext cx="5532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C49B7"/>
                </a:solidFill>
                <a:latin typeface="华文中宋"/>
              </a:rPr>
              <a:t>盘点明细：盘盈 / 相符 / 盘亏</a:t>
            </a:r>
          </a:p>
        </p:txBody>
      </p:sp>
      <p:pic>
        <p:nvPicPr>
          <p:cNvPr id="46" name="Picture 45" descr="inv_05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9196" y="1389888"/>
            <a:ext cx="4592367" cy="219456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74320" y="3529584"/>
            <a:ext cx="5532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C49B7"/>
                </a:solidFill>
                <a:latin typeface="华文中宋"/>
              </a:rPr>
              <a:t>订货点规则维护：物料 + 仓库</a:t>
            </a:r>
          </a:p>
        </p:txBody>
      </p:sp>
      <p:pic>
        <p:nvPicPr>
          <p:cNvPr id="48" name="Picture 47" descr="inv_07_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4196" y="3822191"/>
            <a:ext cx="4592367" cy="219456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989320" y="3529584"/>
            <a:ext cx="5532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C49B7"/>
                </a:solidFill>
                <a:latin typeface="华文中宋"/>
              </a:rPr>
              <a:t>补库需求：跨模块分流、回填受理单</a:t>
            </a:r>
          </a:p>
        </p:txBody>
      </p:sp>
      <p:pic>
        <p:nvPicPr>
          <p:cNvPr id="50" name="Picture 49" descr="inv_08_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9196" y="3822191"/>
            <a:ext cx="4592367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>
            <a:extLst>
              <a:ext uri="{FF2B5EF4-FFF2-40B4-BE49-F238E27FC236}">
                <a16:creationId xmlns:a16="http://schemas.microsoft.com/office/drawing/2014/main" id="{D4036D83-1C97-4B08-AE3C-7AEDA923B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9215" y="1678797"/>
            <a:ext cx="7124626" cy="7124626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7014BE1E-9895-46A3-A269-4F2EC9A44D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01" b="12078"/>
          <a:stretch/>
        </p:blipFill>
        <p:spPr bwMode="auto">
          <a:xfrm>
            <a:off x="0" y="2106219"/>
            <a:ext cx="12214205" cy="302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94115BE-34ED-407E-929E-7206110F62ED}"/>
              </a:ext>
            </a:extLst>
          </p:cNvPr>
          <p:cNvSpPr/>
          <p:nvPr/>
        </p:nvSpPr>
        <p:spPr>
          <a:xfrm>
            <a:off x="0" y="2107257"/>
            <a:ext cx="12215445" cy="3023423"/>
          </a:xfrm>
          <a:prstGeom prst="rect">
            <a:avLst/>
          </a:prstGeom>
          <a:solidFill>
            <a:srgbClr val="0C49B7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F0502020204030204"/>
              <a:ea typeface="微软雅黑"/>
              <a:cs typeface="+mn-ea"/>
              <a:sym typeface="+mn-lt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7DF0BF8-018C-4FDD-A3BA-D79B2F32A3B7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0" y="5522445"/>
            <a:ext cx="5022908" cy="7132"/>
          </a:xfrm>
          <a:prstGeom prst="line">
            <a:avLst/>
          </a:prstGeom>
          <a:noFill/>
          <a:ln w="38100" cap="flat" cmpd="sng" algn="ctr">
            <a:solidFill>
              <a:srgbClr val="0C49B7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C0357B2-C74F-4527-8CC3-ABD1C43FEBF6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169092" y="5522445"/>
            <a:ext cx="5045113" cy="7132"/>
          </a:xfrm>
          <a:prstGeom prst="line">
            <a:avLst/>
          </a:prstGeom>
          <a:noFill/>
          <a:ln w="38100" cap="flat" cmpd="sng" algn="ctr">
            <a:solidFill>
              <a:srgbClr val="0C49B7"/>
            </a:solidFill>
            <a:prstDash val="solid"/>
            <a:miter lim="800000"/>
          </a:ln>
          <a:effectLst/>
        </p:spPr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47CB63C7-A0A1-43D6-BC88-C8F3884ED1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36563" y="5353168"/>
            <a:ext cx="2118874" cy="338553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B430D64-60EA-4ED4-B546-E07D34F40436}"/>
              </a:ext>
            </a:extLst>
          </p:cNvPr>
          <p:cNvGrpSpPr/>
          <p:nvPr/>
        </p:nvGrpSpPr>
        <p:grpSpPr>
          <a:xfrm>
            <a:off x="3968198" y="808968"/>
            <a:ext cx="4255603" cy="1068170"/>
            <a:chOff x="985945" y="526951"/>
            <a:chExt cx="4255603" cy="106817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E40649E3-E3A9-4AF2-9615-CBEFFDF57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5945" y="526951"/>
              <a:ext cx="1068170" cy="106817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4D9A361-FF78-4F4A-8727-B20731A61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50235" y="642953"/>
              <a:ext cx="3191313" cy="522925"/>
            </a:xfrm>
            <a:prstGeom prst="rect">
              <a:avLst/>
            </a:prstGeom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B574254-B8AE-4285-9800-E0F8630A3AD1}"/>
                </a:ext>
              </a:extLst>
            </p:cNvPr>
            <p:cNvSpPr/>
            <p:nvPr/>
          </p:nvSpPr>
          <p:spPr>
            <a:xfrm>
              <a:off x="2164265" y="1124660"/>
              <a:ext cx="307728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  <p:sp>
        <p:nvSpPr>
          <p:cNvPr id="21" name="Rectangle 10">
            <a:extLst>
              <a:ext uri="{FF2B5EF4-FFF2-40B4-BE49-F238E27FC236}">
                <a16:creationId xmlns:a16="http://schemas.microsoft.com/office/drawing/2014/main" id="{178B4715-213C-4130-B388-F2AED9BB4EC4}"/>
              </a:ext>
            </a:extLst>
          </p:cNvPr>
          <p:cNvSpPr/>
          <p:nvPr/>
        </p:nvSpPr>
        <p:spPr>
          <a:xfrm>
            <a:off x="472916" y="4248086"/>
            <a:ext cx="110172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BEIHANG UNIVERSITY </a:t>
            </a:r>
            <a:r>
              <a:rPr lang="zh-CN" altLang="en-US" sz="2000" b="1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GRADUATION REPLY GENERAL TEMPLATE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13874866-8ECB-4DB7-A378-438311BD9B22}"/>
              </a:ext>
            </a:extLst>
          </p:cNvPr>
          <p:cNvSpPr/>
          <p:nvPr/>
        </p:nvSpPr>
        <p:spPr>
          <a:xfrm>
            <a:off x="-24684" y="2795748"/>
            <a:ext cx="122388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7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 感谢观看 期待您的指点</a:t>
            </a:r>
            <a:r>
              <a:rPr lang="zh-CN" altLang="en-US" sz="7200" b="1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1159</Words>
  <Application>Microsoft Office PowerPoint</Application>
  <PresentationFormat>宽屏</PresentationFormat>
  <Paragraphs>129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quote-cjk-patch</vt:lpstr>
      <vt:lpstr>阿里巴巴普惠体 B</vt:lpstr>
      <vt:lpstr>等线</vt:lpstr>
      <vt:lpstr>等线 Light</vt:lpstr>
      <vt:lpstr>华文中宋</vt:lpstr>
      <vt:lpstr>宋体</vt:lpstr>
      <vt:lpstr>微软雅黑</vt:lpstr>
      <vt:lpstr>微软雅黑</vt:lpstr>
      <vt:lpstr>微软雅黑 Light</vt:lpstr>
      <vt:lpstr>Arial</vt:lpstr>
      <vt:lpstr>Arial Black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牛赟珍</cp:lastModifiedBy>
  <cp:revision>62</cp:revision>
  <dcterms:created xsi:type="dcterms:W3CDTF">2020-07-28T02:01:10Z</dcterms:created>
  <dcterms:modified xsi:type="dcterms:W3CDTF">2026-09-22T12:41:49Z</dcterms:modified>
</cp:coreProperties>
</file>